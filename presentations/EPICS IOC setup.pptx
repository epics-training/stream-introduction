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86" r:id="rId2"/>
    <p:sldId id="293" r:id="rId3"/>
    <p:sldId id="289" r:id="rId4"/>
    <p:sldId id="290" r:id="rId5"/>
    <p:sldId id="291" r:id="rId6"/>
    <p:sldId id="610" r:id="rId7"/>
    <p:sldId id="611" r:id="rId8"/>
    <p:sldId id="292" r:id="rId9"/>
    <p:sldId id="280" r:id="rId10"/>
  </p:sldIdLst>
  <p:sldSz cx="12192000" cy="6858000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Oswald" pitchFamily="2" charset="77"/>
      <p:regular r:id="rId17"/>
      <p:bold r:id="rId18"/>
    </p:embeddedFont>
    <p:embeddedFont>
      <p:font typeface="Oswald Regular" panose="02000503000000000000" pitchFamily="2" charset="77"/>
      <p:regular r:id="rId19"/>
    </p:embeddedFont>
    <p:embeddedFont>
      <p:font typeface="Source Sans Pro" panose="020B0503030403020204" pitchFamily="34" charset="0"/>
      <p:regular r:id="rId20"/>
      <p:bold r:id="rId21"/>
      <p:italic r:id="rId22"/>
      <p:boldItalic r:id="rId2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0CF"/>
    <a:srgbClr val="A91D37"/>
    <a:srgbClr val="000000"/>
    <a:srgbClr val="EFB531"/>
    <a:srgbClr val="0033C3"/>
    <a:srgbClr val="D3D3D3"/>
    <a:srgbClr val="B8B8B8"/>
    <a:srgbClr val="115593"/>
    <a:srgbClr val="156BB8"/>
    <a:srgbClr val="02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39" autoAdjust="0"/>
    <p:restoredTop sz="95714" autoAdjust="0"/>
  </p:normalViewPr>
  <p:slideViewPr>
    <p:cSldViewPr snapToGrid="0">
      <p:cViewPr varScale="1">
        <p:scale>
          <a:sx n="82" d="100"/>
          <a:sy n="82" d="100"/>
        </p:scale>
        <p:origin x="168" y="9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1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7.xml"/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5E76C91-9915-4458-B23D-3EA6540160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FB7AE3-DFD2-49AA-A887-7324B1F10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E58FE-3AE1-4995-80E6-8AF0F1DA0E4E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C00001-5093-43F7-BD9F-EF265DE522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53EC2C-99A1-4C15-A25C-1C6F2B3A89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47158-EF9E-49A5-B018-E307E4952F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5321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91381-FB9B-4B1C-99E3-890DFD4525D3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9B650-A7F0-464D-8688-D88779A13E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5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AA5189-E3C0-5541-BCD2-55708D4D52CC}" type="slidenum">
              <a:rPr lang="de-DE"/>
              <a:pPr/>
              <a:t>9</a:t>
            </a:fld>
            <a:endParaRPr lang="de-DE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178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3146D-F9CD-4667-9733-915975835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83CE06-6889-4F07-9BDB-F60D87A01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369807-43E9-4E6F-A3E0-5D77B68F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A6AF13-49B3-4FE9-B94D-0CD8BBAE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B81F20-5618-4C2C-B875-915115B7E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723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80AC99-2076-43D9-B787-7562050B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3EEA89-F850-4F9A-AF61-50796D810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59DD63-82FB-45C4-9C46-A46D9D89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2F4776-D99C-4135-B29D-B7D98867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F7797C-8BB4-442E-8DDB-97B3C1E1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15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F8B62F-7BA0-465D-BEBF-182FFE6C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115AEB-4E22-4AC3-A18A-016278299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BD60CA-7E10-4594-A689-D06550C9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C4FC93-C90F-4DC1-81C0-083990C3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77A670-2D23-47BD-B759-B5E5CF52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813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23B35-854E-4696-8A87-7E7B728A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645F74-BD8D-4E4E-BDB9-D02A44EEA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61FF99-02E9-4119-919B-E4B5BEC23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927D07-FAB5-4FEF-91B2-B2533B9F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283F85-213C-4B7A-9B9D-F8AD8A92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23057A-E691-4F8C-9DE9-72DBAB7E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65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BEA62-38E6-4B5F-AD25-C14259874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12F239-6267-4445-88DA-C6FA8FDAF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8EFE8D-222A-401D-9C0F-BC9592B99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52B5365-1527-4EE6-B7A0-96E721040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DA62BEE-9E9A-4648-BE58-51CCA2250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1F725D7-3A71-4698-AD5D-05CA4956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205A89-55DB-4AA1-9811-6CB6C253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8FAFAE-4685-4696-8BE6-A9FF1C1E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213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BCFD02-FCDE-4CDE-BBD9-303E9235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E4FC69-EEA5-4B6F-9EDC-3FE3A444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CD84CD-7858-4431-B124-3BC3FE4B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3F721B-6992-4CBE-92C7-8C16E477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870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63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47622E-6FA0-48E8-841D-5199DDA5B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C957F8-4344-4A7D-9FA7-6EBAC93A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139DC7-5A2B-438D-B985-4A4B096EF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CE11AD-5C9B-4155-94F7-DAA73F19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BA642A-8B77-4D6B-92C3-91DD0380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82536F-7F1A-47B5-96F6-7CCF0B54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525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3AF85-EB0C-4B9D-A332-DFE9B7A5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D11919E-478C-47FE-A050-93C6355CE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C08F94-D57A-4C09-81F4-00E41C9F9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0857B2-BC24-4673-8C75-6C4D5949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CFE2D3-1321-4B02-A5E1-2F614517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0553D3-324D-4DAF-814A-4A7C55D8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83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F8505-DC85-4124-B03D-74FED555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CD297E-272F-4873-A2EA-99254EB5A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079D37-5C54-4648-BC05-D93512E0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FC2188-E367-4F3B-B212-CBD08385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B827D5-7942-4DB0-866C-DFD78B5C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99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50A8C9-E3BB-4DA1-AF29-8CB58BAE5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998828-6246-499E-8416-8FA63C50D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A716FF-32E2-417F-8FB2-3B742982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976C2B-432E-40FA-BD82-526215F8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8DD793-DB9D-48DE-BE05-FB76A115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10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3195E9B-F05D-4615-B542-936C8762006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04955" y="6123708"/>
            <a:ext cx="656278" cy="34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13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B200AE4-4BB0-45E2-BF76-953BC07FE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D84EAC81-8748-45A9-9E48-D8B6C99A5DB4}"/>
              </a:ext>
            </a:extLst>
          </p:cNvPr>
          <p:cNvSpPr txBox="1"/>
          <p:nvPr/>
        </p:nvSpPr>
        <p:spPr>
          <a:xfrm>
            <a:off x="5869325" y="4597651"/>
            <a:ext cx="5558712" cy="1451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eaLnBrk="0" hangingPunct="0"/>
            <a:r>
              <a:rPr lang="de-DE" sz="4400" spc="30">
                <a:solidFill>
                  <a:srgbClr val="C7DE37"/>
                </a:solidFill>
                <a:latin typeface="Oswald Regular"/>
                <a:cs typeface="Oswald Regular"/>
              </a:rPr>
              <a:t>Working </a:t>
            </a:r>
            <a:r>
              <a:rPr lang="de-DE" sz="4400" spc="30" err="1">
                <a:solidFill>
                  <a:srgbClr val="C7DE37"/>
                </a:solidFill>
                <a:latin typeface="Oswald Regular"/>
                <a:cs typeface="Oswald Regular"/>
              </a:rPr>
              <a:t>with</a:t>
            </a:r>
            <a:r>
              <a:rPr lang="de-DE" sz="4400" spc="30">
                <a:solidFill>
                  <a:srgbClr val="C7DE37"/>
                </a:solidFill>
                <a:latin typeface="Oswald Regular"/>
                <a:cs typeface="Oswald Regular"/>
              </a:rPr>
              <a:t> EPICS</a:t>
            </a:r>
          </a:p>
          <a:p>
            <a:pPr algn="ctr" eaLnBrk="0" hangingPunct="0"/>
            <a:r>
              <a:rPr lang="de-DE" sz="3200" spc="30">
                <a:solidFill>
                  <a:srgbClr val="C7DE37"/>
                </a:solidFill>
                <a:latin typeface="Oswald Regular"/>
                <a:cs typeface="Oswald Regular"/>
              </a:rPr>
              <a:t>-simple </a:t>
            </a:r>
            <a:r>
              <a:rPr lang="de-DE" sz="3200" spc="30" err="1">
                <a:solidFill>
                  <a:srgbClr val="C7DE37"/>
                </a:solidFill>
                <a:latin typeface="Oswald Regular"/>
                <a:cs typeface="Oswald Regular"/>
              </a:rPr>
              <a:t>device</a:t>
            </a:r>
            <a:r>
              <a:rPr lang="de-DE" sz="3200" spc="30">
                <a:solidFill>
                  <a:srgbClr val="C7DE37"/>
                </a:solidFill>
                <a:latin typeface="Oswald Regular"/>
                <a:cs typeface="Oswald Regular"/>
              </a:rPr>
              <a:t> </a:t>
            </a:r>
            <a:r>
              <a:rPr lang="de-DE" sz="3200" spc="30" err="1">
                <a:solidFill>
                  <a:srgbClr val="C7DE37"/>
                </a:solidFill>
                <a:latin typeface="Oswald Regular"/>
                <a:cs typeface="Oswald Regular"/>
              </a:rPr>
              <a:t>integration</a:t>
            </a:r>
            <a:r>
              <a:rPr lang="de-DE" sz="3200" spc="30">
                <a:solidFill>
                  <a:srgbClr val="C7DE37"/>
                </a:solidFill>
                <a:latin typeface="Oswald Regular"/>
                <a:cs typeface="Oswald Regular"/>
              </a:rPr>
              <a:t>-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0B20AEB-16DA-447D-918E-30BDB777D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617" y="1513153"/>
            <a:ext cx="1865076" cy="98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28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54EA-77AB-A6AB-F11F-593E8F93D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>
            <a:extLst>
              <a:ext uri="{FF2B5EF4-FFF2-40B4-BE49-F238E27FC236}">
                <a16:creationId xmlns:a16="http://schemas.microsoft.com/office/drawing/2014/main" id="{CAE218AF-A5D6-A3D0-03FB-7E97B060AF9B}"/>
              </a:ext>
            </a:extLst>
          </p:cNvPr>
          <p:cNvSpPr txBox="1"/>
          <p:nvPr/>
        </p:nvSpPr>
        <p:spPr>
          <a:xfrm>
            <a:off x="1314628" y="456623"/>
            <a:ext cx="9658172" cy="55309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en-GB" sz="3200" b="1" noProof="0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Task: integrate a simple power supply using </a:t>
            </a:r>
            <a:r>
              <a:rPr lang="en-GB" sz="3200" b="1" noProof="0" dirty="0" err="1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StreamDevice</a:t>
            </a:r>
            <a:endParaRPr lang="en-GB" sz="3200" b="1" noProof="0" dirty="0">
              <a:solidFill>
                <a:srgbClr val="60737F"/>
              </a:solidFill>
              <a:latin typeface="Oswald Regular" panose="02000503000000000000" pitchFamily="2" charset="0"/>
              <a:ea typeface="Milo-Medium"/>
              <a:cs typeface="Source Sans Pro"/>
            </a:endParaRP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This demo/exercise will show you the “barebones” method of setting up an IOC.</a:t>
            </a:r>
          </a:p>
          <a:p>
            <a:pPr marL="800100" lvl="1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Don’t be too scared. It gives you an idea what is behind the scenes.</a:t>
            </a:r>
            <a:endParaRPr lang="en-GB" sz="2400" noProof="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community does not (yet) provide a common, universal setup tool.</a:t>
            </a:r>
          </a:p>
          <a:p>
            <a:pPr marL="800100" lvl="1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Several institutes have built their own environments to make this easier.</a:t>
            </a:r>
          </a:p>
          <a:p>
            <a:pPr marL="1257300" lvl="2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For instance our (ESS) build and management tool, the e3.</a:t>
            </a:r>
          </a:p>
          <a:p>
            <a:pPr marL="800100" lvl="1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For this simple setup I decided to use the off-the-box method.</a:t>
            </a: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site docs.epics-controls.org  has a couple of “getting started” recipes.</a:t>
            </a:r>
            <a:endParaRPr lang="en-GB" sz="2400" noProof="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54925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/>
          <p:cNvSpPr txBox="1"/>
          <p:nvPr/>
        </p:nvSpPr>
        <p:spPr>
          <a:xfrm>
            <a:off x="1314628" y="456623"/>
            <a:ext cx="9283883" cy="53770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en-GB" sz="3200" b="1" noProof="1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Task: integrate a simple power supply using StreamDevice</a:t>
            </a: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simulated device is a variable voltage power supply unit controller, offering a simple interface and message-based protocol.</a:t>
            </a: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device listens on TCP/IP port &lt;check the code </a:t>
            </a:r>
            <a:r>
              <a:rPr lang="en-GB" sz="2400" noProof="1">
                <a:solidFill>
                  <a:srgbClr val="60737F"/>
                </a:solidFill>
                <a:latin typeface="Source Sans Pro"/>
                <a:ea typeface="Milo-Medium"/>
                <a:cs typeface="Source Sans Pro"/>
                <a:sym typeface="Wingdings" pitchFamily="2" charset="2"/>
              </a:rPr>
              <a:t></a:t>
            </a:r>
            <a:r>
              <a:rPr lang="en-GB" sz="2400" noProof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&gt;. </a:t>
            </a: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It expects input commands following a known format followed by an End-Of-Line indicator. </a:t>
            </a: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To each known command, it returns a specific reply, also followed by an End-Of-Line indicator. </a:t>
            </a: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End-Of-Line indicator in both directions is CR LF (CarriageReturn followed by LineFeed: \r\n). This is used to determine when a message ends and the next one begins.</a:t>
            </a:r>
          </a:p>
        </p:txBody>
      </p:sp>
    </p:spTree>
    <p:extLst>
      <p:ext uri="{BB962C8B-B14F-4D97-AF65-F5344CB8AC3E}">
        <p14:creationId xmlns:p14="http://schemas.microsoft.com/office/powerpoint/2010/main" val="325748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06F92-14BF-3E60-D6AE-09802D3B4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>
            <a:extLst>
              <a:ext uri="{FF2B5EF4-FFF2-40B4-BE49-F238E27FC236}">
                <a16:creationId xmlns:a16="http://schemas.microsoft.com/office/drawing/2014/main" id="{C5B02FD5-C400-F92B-BF30-3CB61300A31A}"/>
              </a:ext>
            </a:extLst>
          </p:cNvPr>
          <p:cNvSpPr txBox="1"/>
          <p:nvPr/>
        </p:nvSpPr>
        <p:spPr>
          <a:xfrm>
            <a:off x="1314628" y="456623"/>
            <a:ext cx="9283883" cy="15236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en-GB" sz="3200" b="1" noProof="0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Task: integrate a simple power supply using </a:t>
            </a:r>
            <a:r>
              <a:rPr lang="en-GB" sz="3200" b="1" noProof="0" dirty="0" err="1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StreamDevice</a:t>
            </a:r>
            <a:endParaRPr lang="en-GB" sz="3200" b="1" noProof="0" dirty="0">
              <a:solidFill>
                <a:srgbClr val="60737F"/>
              </a:solidFill>
              <a:latin typeface="Oswald Regular" panose="02000503000000000000" pitchFamily="2" charset="0"/>
              <a:ea typeface="Milo-Medium"/>
              <a:cs typeface="Source Sans Pro"/>
            </a:endParaRP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following table displays the available commands the device simulator understands: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54C326-9DC9-CBEE-3159-447C0E2EF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489" y="1980310"/>
            <a:ext cx="8328975" cy="2167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4BCAD6-33C2-FB32-B8CC-0D948B32B4E6}"/>
              </a:ext>
            </a:extLst>
          </p:cNvPr>
          <p:cNvSpPr txBox="1"/>
          <p:nvPr/>
        </p:nvSpPr>
        <p:spPr>
          <a:xfrm>
            <a:off x="1184110" y="4000834"/>
            <a:ext cx="9916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For a real-world reference, compare with a Lakeshore cryogenic controller (from Lakeshore-336 manual):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8A3390-1038-5326-AA3D-6930E7E4F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67" y="4371532"/>
            <a:ext cx="7772400" cy="2031211"/>
          </a:xfrm>
          <a:prstGeom prst="rect">
            <a:avLst/>
          </a:prstGeom>
        </p:spPr>
      </p:pic>
      <p:pic>
        <p:nvPicPr>
          <p:cNvPr id="1026" name="Picture 2" descr="Model 336 cryogenic temperature controller">
            <a:extLst>
              <a:ext uri="{FF2B5EF4-FFF2-40B4-BE49-F238E27FC236}">
                <a16:creationId xmlns:a16="http://schemas.microsoft.com/office/drawing/2014/main" id="{126C76B1-D93D-9B22-4FDF-2E425BD2E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400" y="5139161"/>
            <a:ext cx="2581400" cy="74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01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DC8F5-6AC7-5332-3BBC-75240F74C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>
            <a:extLst>
              <a:ext uri="{FF2B5EF4-FFF2-40B4-BE49-F238E27FC236}">
                <a16:creationId xmlns:a16="http://schemas.microsoft.com/office/drawing/2014/main" id="{1D7BC6A5-711F-3F98-E8C9-AEC9F2ACDE13}"/>
              </a:ext>
            </a:extLst>
          </p:cNvPr>
          <p:cNvSpPr txBox="1"/>
          <p:nvPr/>
        </p:nvSpPr>
        <p:spPr>
          <a:xfrm>
            <a:off x="1314628" y="456623"/>
            <a:ext cx="9283883" cy="54539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en-GB" sz="3200" b="1" noProof="0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Task: integrate a simple power supply using </a:t>
            </a:r>
            <a:r>
              <a:rPr lang="en-GB" sz="3200" b="1" noProof="0" dirty="0" err="1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StreamDevice</a:t>
            </a:r>
            <a:endParaRPr lang="en-GB" sz="3200" b="1" noProof="0" dirty="0">
              <a:solidFill>
                <a:srgbClr val="60737F"/>
              </a:solidFill>
              <a:latin typeface="Oswald Regular" panose="02000503000000000000" pitchFamily="2" charset="0"/>
              <a:ea typeface="Milo-Medium"/>
              <a:cs typeface="Source Sans Pro"/>
            </a:endParaRP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Before starting the VM:</a:t>
            </a:r>
          </a:p>
          <a:p>
            <a:pPr marL="800100" lvl="1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In the “Extras” folder that you copied from the USB, there is a directory “</a:t>
            </a:r>
            <a:r>
              <a:rPr lang="en-GB" sz="240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streamIOC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”. It contains a ready-made IOC for communicating with the simulated power supply. In the VM settings, map that directory to /</a:t>
            </a:r>
            <a:r>
              <a:rPr lang="en-GB" sz="240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mnt</a:t>
            </a:r>
            <a:endParaRPr lang="en-GB" sz="240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Power up the VM. With the file manager, navigate to /</a:t>
            </a:r>
            <a:r>
              <a:rPr lang="en-GB" sz="240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mnt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, and open a terminal there. (two or three windows or tabs will be needed.)</a:t>
            </a: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In one terminal window, start the simulator with:</a:t>
            </a:r>
          </a:p>
          <a:p>
            <a:pPr marL="800100" lvl="1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 “</a:t>
            </a:r>
            <a:r>
              <a:rPr lang="en-GB" sz="2400" dirty="0">
                <a:solidFill>
                  <a:srgbClr val="60737F"/>
                </a:solidFill>
                <a:latin typeface="Courier New" panose="02070309020205020404" pitchFamily="49" charset="0"/>
                <a:ea typeface="Milo-Medium"/>
                <a:cs typeface="Courier New" panose="02070309020205020404" pitchFamily="49" charset="0"/>
              </a:rPr>
              <a:t>python </a:t>
            </a:r>
            <a:r>
              <a:rPr lang="en-GB" sz="2400" dirty="0" err="1">
                <a:solidFill>
                  <a:srgbClr val="60737F"/>
                </a:solidFill>
                <a:latin typeface="Courier New" panose="02070309020205020404" pitchFamily="49" charset="0"/>
                <a:ea typeface="Milo-Medium"/>
                <a:cs typeface="Courier New" panose="02070309020205020404" pitchFamily="49" charset="0"/>
              </a:rPr>
              <a:t>PSU.py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”</a:t>
            </a:r>
          </a:p>
          <a:p>
            <a:pPr marL="800100" lvl="1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If you see a message reporting a port number, you are fine to go.</a:t>
            </a:r>
            <a:endParaRPr lang="en-GB" sz="2400" noProof="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11663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48861-31F9-625C-47F2-0726B327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A89C-C1E0-89EB-9D85-F53E09EA9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127" y="1165967"/>
            <a:ext cx="5014481" cy="546105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Stream protocol file for simulated PS</a:t>
            </a:r>
          </a:p>
          <a:p>
            <a:pPr marL="0" indent="0">
              <a:buNone/>
            </a:pP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idn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out "*IDN?";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in "%s";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power-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rb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out "POWER?";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in "%{OFF|ON}";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v-out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out "VOUT?";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in "%f";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45145F-2C11-DC7A-B022-579CB59CA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622145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Protocol File for the simulated power supply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C99DCA-A26F-CB69-96A8-AC9CD496D088}"/>
              </a:ext>
            </a:extLst>
          </p:cNvPr>
          <p:cNvSpPr txBox="1">
            <a:spLocks/>
          </p:cNvSpPr>
          <p:nvPr/>
        </p:nvSpPr>
        <p:spPr>
          <a:xfrm>
            <a:off x="6298369" y="1190052"/>
            <a:ext cx="5726242" cy="54610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v-set-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rb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out "VSET?";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in "%f";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power-cm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out "POWER %{OFF|ON}";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in "POWER SWITCHED %{OFF|ON}";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@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{power-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rb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v-set-cm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out "VSET %f";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in "VOLTAGE SET TO %f";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@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{v-set-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rb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376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885F-92A6-B0BF-BEBE-16A8BA8E9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980A2D8-E60D-B8B0-FC2E-6F922A8A1AF2}"/>
              </a:ext>
            </a:extLst>
          </p:cNvPr>
          <p:cNvSpPr/>
          <p:nvPr/>
        </p:nvSpPr>
        <p:spPr>
          <a:xfrm>
            <a:off x="6571282" y="4664990"/>
            <a:ext cx="3524048" cy="16342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BD28AC-27B8-A452-9862-2481D4478FDE}"/>
              </a:ext>
            </a:extLst>
          </p:cNvPr>
          <p:cNvSpPr/>
          <p:nvPr/>
        </p:nvSpPr>
        <p:spPr>
          <a:xfrm>
            <a:off x="1848508" y="4664990"/>
            <a:ext cx="2551576" cy="14723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5F484-BBCD-98F1-D9A9-105FFF41E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127" y="1165967"/>
            <a:ext cx="5321505" cy="546105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record(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stringin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, "$(user):IDN")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field(DESC, "Device identification")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field(DTYP, "stream")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field(INP, "@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PSU.proto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idn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PSU0")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field(PINI, "YES")</a:t>
            </a:r>
          </a:p>
          <a:p>
            <a:pPr marL="0" indent="0">
              <a:buNone/>
            </a:pPr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CAD16-2FF3-9C96-A3E4-556DA3E84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6671" y="318274"/>
            <a:ext cx="8001840" cy="622145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Example record definitions from the database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455DBF-0EE5-31BC-8665-CD6875E7E6F9}"/>
              </a:ext>
            </a:extLst>
          </p:cNvPr>
          <p:cNvSpPr txBox="1">
            <a:spLocks/>
          </p:cNvSpPr>
          <p:nvPr/>
        </p:nvSpPr>
        <p:spPr>
          <a:xfrm>
            <a:off x="6298369" y="1190052"/>
            <a:ext cx="5726242" cy="54610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v-set-record(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bo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, "$(user):POWER-CM")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field(DESC, "Power switch command")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field(DTYP, "stream")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field(OUT, "@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PSU.proto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power-cm PSU0")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field(ONAM, "ON")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field(ZNAM, "OFF")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	field(FLNK, "$(user):POWER-RB")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8A02AB-65F3-269F-004D-97878D5F8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671" y="4876799"/>
            <a:ext cx="2093148" cy="10047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B2172D-38AC-8A29-4115-84906E390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877" y="4888087"/>
            <a:ext cx="3131692" cy="114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90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8C0B-B17A-2F4F-CB49-FF2842399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3">
            <a:extLst>
              <a:ext uri="{FF2B5EF4-FFF2-40B4-BE49-F238E27FC236}">
                <a16:creationId xmlns:a16="http://schemas.microsoft.com/office/drawing/2014/main" id="{15763205-9B74-373C-E5B8-29DA43E5344E}"/>
              </a:ext>
            </a:extLst>
          </p:cNvPr>
          <p:cNvSpPr txBox="1"/>
          <p:nvPr/>
        </p:nvSpPr>
        <p:spPr>
          <a:xfrm>
            <a:off x="1314628" y="456623"/>
            <a:ext cx="9283883" cy="61311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627"/>
              </a:spcAft>
              <a:buClr>
                <a:srgbClr val="9C072D"/>
              </a:buClr>
              <a:tabLst>
                <a:tab pos="392682" algn="l"/>
              </a:tabLst>
            </a:pPr>
            <a:r>
              <a:rPr lang="en-GB" sz="3200" b="1" noProof="0" dirty="0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Task: integrate a simple power supply using </a:t>
            </a:r>
            <a:r>
              <a:rPr lang="en-GB" sz="3200" b="1" noProof="0" dirty="0" err="1">
                <a:solidFill>
                  <a:srgbClr val="60737F"/>
                </a:solidFill>
                <a:latin typeface="Oswald Regular" panose="02000503000000000000" pitchFamily="2" charset="0"/>
                <a:ea typeface="Milo-Medium"/>
                <a:cs typeface="Source Sans Pro"/>
              </a:rPr>
              <a:t>StreamDevice</a:t>
            </a:r>
            <a:endParaRPr lang="en-GB" sz="3200" b="1" noProof="0" dirty="0">
              <a:solidFill>
                <a:srgbClr val="60737F"/>
              </a:solidFill>
              <a:latin typeface="Oswald Regular" panose="02000503000000000000" pitchFamily="2" charset="0"/>
              <a:ea typeface="Milo-Medium"/>
              <a:cs typeface="Source Sans Pro"/>
            </a:endParaRP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Starting the IOC:</a:t>
            </a:r>
          </a:p>
          <a:p>
            <a:pPr marL="800100" lvl="1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Change to the directory “</a:t>
            </a:r>
            <a:r>
              <a:rPr lang="en-GB" sz="2400" noProof="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streamIoc</a:t>
            </a: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/</a:t>
            </a:r>
            <a:r>
              <a:rPr lang="en-GB" sz="2400" noProof="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iocBoot</a:t>
            </a: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/</a:t>
            </a:r>
            <a:r>
              <a:rPr lang="en-GB" sz="2400" noProof="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ioctestIoc</a:t>
            </a: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”</a:t>
            </a:r>
          </a:p>
          <a:p>
            <a:pPr marL="1257300" lvl="2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0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It would be good to take a look at the directory structure</a:t>
            </a:r>
          </a:p>
          <a:p>
            <a:pPr marL="800100" lvl="1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Start the IOC with the command ./</a:t>
            </a:r>
            <a:r>
              <a:rPr lang="en-GB" sz="2400" noProof="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st.cmd</a:t>
            </a:r>
            <a:endParaRPr lang="en-GB" sz="2400" noProof="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  <a:p>
            <a:pPr marL="1257300" lvl="2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Pay attention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 to the terminal output.</a:t>
            </a:r>
          </a:p>
          <a:p>
            <a:pPr marL="800100" lvl="1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The IOC 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serves a number of records in addition to the PSU simulation. </a:t>
            </a:r>
          </a:p>
          <a:p>
            <a:pPr marL="1257300" lvl="2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Let us look at the startup script (</a:t>
            </a:r>
            <a:r>
              <a:rPr lang="en-GB" sz="2400" noProof="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st.cmd</a:t>
            </a: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)</a:t>
            </a: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 to see the commands.</a:t>
            </a: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In another window, type “</a:t>
            </a:r>
            <a:r>
              <a:rPr lang="en-GB" sz="2400" noProof="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pvget</a:t>
            </a: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 </a:t>
            </a:r>
            <a:r>
              <a:rPr lang="en-GB" sz="2400" noProof="0" dirty="0" err="1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epics-dev:IDN</a:t>
            </a: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” and check the reply.</a:t>
            </a:r>
          </a:p>
          <a:p>
            <a:pPr marL="800100" lvl="1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noProof="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If you get a reply and no timeout, congratulations!</a:t>
            </a:r>
          </a:p>
          <a:p>
            <a:pPr marL="342900" indent="-342900" eaLnBrk="0" hangingPunct="0">
              <a:lnSpc>
                <a:spcPct val="120000"/>
              </a:lnSpc>
              <a:spcAft>
                <a:spcPts val="627"/>
              </a:spcAft>
              <a:buClr>
                <a:srgbClr val="C7DE37"/>
              </a:buClr>
              <a:buFont typeface="Arial" panose="020B0604020202020204" pitchFamily="34" charset="0"/>
              <a:buChar char="•"/>
              <a:tabLst>
                <a:tab pos="392682" algn="l"/>
              </a:tabLst>
            </a:pPr>
            <a:r>
              <a:rPr lang="en-GB" sz="2400" dirty="0">
                <a:solidFill>
                  <a:srgbClr val="60737F"/>
                </a:solidFill>
                <a:latin typeface="Source Sans Pro"/>
                <a:ea typeface="Milo-Medium"/>
                <a:cs typeface="Source Sans Pro"/>
              </a:rPr>
              <a:t>Next, let us start Phoebus. Let us work interactively from here.</a:t>
            </a:r>
            <a:endParaRPr lang="en-GB" sz="2400" noProof="0" dirty="0">
              <a:solidFill>
                <a:srgbClr val="60737F"/>
              </a:solidFill>
              <a:latin typeface="Source Sans Pro"/>
              <a:ea typeface="Milo-Medium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869742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generated with high confidence">
            <a:extLst>
              <a:ext uri="{FF2B5EF4-FFF2-40B4-BE49-F238E27FC236}">
                <a16:creationId xmlns:a16="http://schemas.microsoft.com/office/drawing/2014/main" id="{081E4B5E-9F23-434D-8EF6-723C1D16D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492148" y="435454"/>
            <a:ext cx="6746511" cy="11321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3467" err="1">
                <a:solidFill>
                  <a:srgbClr val="C7DE27"/>
                </a:solidFill>
                <a:latin typeface="Oswald Regular"/>
                <a:ea typeface="Milo-Medium"/>
                <a:cs typeface="Oswald Regular"/>
              </a:rPr>
              <a:t>Success</a:t>
            </a:r>
            <a:r>
              <a:rPr lang="de-DE" sz="3467">
                <a:solidFill>
                  <a:srgbClr val="C7DE27"/>
                </a:solidFill>
                <a:latin typeface="Oswald Regular"/>
                <a:ea typeface="Milo-Medium"/>
                <a:cs typeface="Oswald Regular"/>
              </a:rPr>
              <a:t>!</a:t>
            </a:r>
          </a:p>
          <a:p>
            <a:pPr>
              <a:lnSpc>
                <a:spcPct val="110000"/>
              </a:lnSpc>
            </a:pPr>
            <a:endParaRPr lang="de-DE" sz="3467">
              <a:solidFill>
                <a:srgbClr val="C7DE27"/>
              </a:solidFill>
              <a:latin typeface="Oswald Regular"/>
              <a:ea typeface="Milo-Medium"/>
              <a:cs typeface="Source Sans Pro"/>
            </a:endParaRPr>
          </a:p>
        </p:txBody>
      </p:sp>
      <p:pic>
        <p:nvPicPr>
          <p:cNvPr id="36" name="Grafik 8">
            <a:extLst>
              <a:ext uri="{FF2B5EF4-FFF2-40B4-BE49-F238E27FC236}">
                <a16:creationId xmlns:a16="http://schemas.microsoft.com/office/drawing/2014/main" id="{BBFCB516-DB00-4844-B0CC-5A420930EB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48" y="6139281"/>
            <a:ext cx="648829" cy="34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9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ICS presentation" id="{7AE69D57-5A9A-EC4B-B48D-17D8E9C4F91E}" vid="{891AE9FA-AA9F-8B45-A343-9F71569D2A0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4378</TotalTime>
  <Words>768</Words>
  <Application>Microsoft Macintosh PowerPoint</Application>
  <PresentationFormat>Widescreen</PresentationFormat>
  <Paragraphs>86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Consolas</vt:lpstr>
      <vt:lpstr>Oswald Regular</vt:lpstr>
      <vt:lpstr>Calibri</vt:lpstr>
      <vt:lpstr>Source Sans Pro</vt:lpstr>
      <vt:lpstr>Oswald</vt:lpstr>
      <vt:lpstr>Courier New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Protocol File for the simulated power supply</vt:lpstr>
      <vt:lpstr>Example record definitions from the database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 Korhonen</dc:creator>
  <cp:lastModifiedBy>Timo Korhonen</cp:lastModifiedBy>
  <cp:revision>8</cp:revision>
  <dcterms:created xsi:type="dcterms:W3CDTF">2025-10-14T18:21:21Z</dcterms:created>
  <dcterms:modified xsi:type="dcterms:W3CDTF">2026-04-18T22:50:46Z</dcterms:modified>
</cp:coreProperties>
</file>
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86" r:id="rId2"/>
    <p:sldId id="261" r:id="rId3"/>
    <p:sldId id="268" r:id="rId4"/>
    <p:sldId id="272" r:id="rId5"/>
    <p:sldId id="269" r:id="rId6"/>
    <p:sldId id="278" r:id="rId7"/>
    <p:sldId id="270" r:id="rId8"/>
    <p:sldId id="279" r:id="rId9"/>
    <p:sldId id="271" r:id="rId10"/>
    <p:sldId id="273" r:id="rId11"/>
    <p:sldId id="274" r:id="rId12"/>
    <p:sldId id="275" r:id="rId13"/>
    <p:sldId id="276" r:id="rId14"/>
    <p:sldId id="277" r:id="rId15"/>
    <p:sldId id="296" r:id="rId16"/>
    <p:sldId id="260" r:id="rId17"/>
    <p:sldId id="262" r:id="rId18"/>
    <p:sldId id="263" r:id="rId19"/>
    <p:sldId id="264" r:id="rId20"/>
    <p:sldId id="265" r:id="rId21"/>
    <p:sldId id="266" r:id="rId22"/>
    <p:sldId id="267" r:id="rId23"/>
    <p:sldId id="280" r:id="rId24"/>
  </p:sldIdLst>
  <p:sldSz cx="12192000" cy="6858000"/>
  <p:notesSz cx="6858000" cy="9144000"/>
  <p:embeddedFontLst>
    <p:embeddedFont>
      <p:font typeface="Century Gothic" panose="020B0502020202020204" pitchFamily="34" charset="0"/>
      <p:regular r:id="rId27"/>
      <p:bold r:id="rId28"/>
      <p:italic r:id="rId29"/>
      <p:boldItalic r:id="rId30"/>
    </p:embeddedFont>
    <p:embeddedFont>
      <p:font typeface="Oswald" pitchFamily="2" charset="77"/>
      <p:regular r:id="rId31"/>
      <p:bold r:id="rId32"/>
    </p:embeddedFont>
    <p:embeddedFont>
      <p:font typeface="Oswald Regular" panose="02000503000000000000" pitchFamily="2" charset="77"/>
      <p:regular r:id="rId33"/>
    </p:embeddedFont>
    <p:embeddedFont>
      <p:font typeface="Source Sans Pro" panose="020B0503030403020204" pitchFamily="34" charset="0"/>
      <p:regular r:id="rId34"/>
      <p:bold r:id="rId35"/>
      <p:italic r:id="rId36"/>
      <p:boldItalic r:id="rId37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0CF"/>
    <a:srgbClr val="A91D37"/>
    <a:srgbClr val="000000"/>
    <a:srgbClr val="EFB531"/>
    <a:srgbClr val="0033C3"/>
    <a:srgbClr val="D3D3D3"/>
    <a:srgbClr val="B8B8B8"/>
    <a:srgbClr val="115593"/>
    <a:srgbClr val="156BB8"/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1" autoAdjust="0"/>
    <p:restoredTop sz="95694" autoAdjust="0"/>
  </p:normalViewPr>
  <p:slideViewPr>
    <p:cSldViewPr snapToGrid="0">
      <p:cViewPr varScale="1">
        <p:scale>
          <a:sx n="103" d="100"/>
          <a:sy n="103" d="100"/>
        </p:scale>
        <p:origin x="696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1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5E76C91-9915-4458-B23D-3EA6540160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FB7AE3-DFD2-49AA-A887-7324B1F10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E58FE-3AE1-4995-80E6-8AF0F1DA0E4E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FC00001-5093-43F7-BD9F-EF265DE522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53EC2C-99A1-4C15-A25C-1C6F2B3A89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747158-EF9E-49A5-B018-E307E4952F0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321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091381-FB9B-4B1C-99E3-890DFD4525D3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B650-A7F0-464D-8688-D88779A13E2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65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AA5189-E3C0-5541-BCD2-55708D4D52CC}" type="slidenum">
              <a:rPr lang="de-DE"/>
              <a:pPr/>
              <a:t>23</a:t>
            </a:fld>
            <a:endParaRPr lang="de-DE" dirty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3178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3146D-F9CD-4667-9733-915975835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83CE06-6889-4F07-9BDB-F60D87A01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369807-43E9-4E6F-A3E0-5D77B68F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A6AF13-49B3-4FE9-B94D-0CD8BBAE9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4B81F20-5618-4C2C-B875-915115B7E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723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0AC99-2076-43D9-B787-7562050BC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3EEA89-F850-4F9A-AF61-50796D810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59DD63-82FB-45C4-9C46-A46D9D89D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2F4776-D99C-4135-B29D-B7D98867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F7797C-8BB4-442E-8DDB-97B3C1E1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015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8B62F-7BA0-465D-BEBF-182FFE6CD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115AEB-4E22-4AC3-A18A-016278299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BD60CA-7E10-4594-A689-D06550C9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4FC93-C90F-4DC1-81C0-083990C3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77A670-2D23-47BD-B759-B5E5CF525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381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23B35-854E-4696-8A87-7E7B728A3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645F74-BD8D-4E4E-BDB9-D02A44EEA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61FF99-02E9-4119-919B-E4B5BEC23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927D07-FAB5-4FEF-91B2-B2533B9FDA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283F85-213C-4B7A-9B9D-F8AD8A926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123057A-E691-4F8C-9DE9-72DBAB7EE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65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BEA62-38E6-4B5F-AD25-C14259874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12F239-6267-4445-88DA-C6FA8FDAF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8EFE8D-222A-401D-9C0F-BC9592B99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2B5365-1527-4EE6-B7A0-96E721040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DA62BEE-9E9A-4648-BE58-51CCA22500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F725D7-3A71-4698-AD5D-05CA4956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F205A89-55DB-4AA1-9811-6CB6C253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8FAFAE-4685-4696-8BE6-A9FF1C1E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2133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CFD02-FCDE-4CDE-BBD9-303E9235C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CE4FC69-EEA5-4B6F-9EDC-3FE3A444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5CD84CD-7858-4431-B124-3BC3FE4B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3F721B-6992-4CBE-92C7-8C16E477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8700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7638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47622E-6FA0-48E8-841D-5199DDA5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C957F8-4344-4A7D-9FA7-6EBAC93AB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1139DC7-5A2B-438D-B985-4A4B096EF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CE11AD-5C9B-4155-94F7-DAA73F19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BA642A-8B77-4D6B-92C3-91DD03805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82536F-7F1A-47B5-96F6-7CCF0B54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525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3AF85-EB0C-4B9D-A332-DFE9B7A53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D11919E-478C-47FE-A050-93C6355CE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C08F94-D57A-4C09-81F4-00E41C9F9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0857B2-BC24-4673-8C75-6C4D5949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7CFE2D3-1321-4B02-A5E1-2F614517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0553D3-324D-4DAF-814A-4A7C55D8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836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5F8505-DC85-4124-B03D-74FED5553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CD297E-272F-4873-A2EA-99254EB5A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079D37-5C54-4648-BC05-D93512E0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FC2188-E367-4F3B-B212-CBD08385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B827D5-7942-4DB0-866C-DFD78B5C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997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0A8C9-E3BB-4DA1-AF29-8CB58BAE5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998828-6246-499E-8416-8FA63C50D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A716FF-32E2-417F-8FB2-3B74298210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9AAF2-2243-4209-A85C-F7036AF186DC}" type="datetimeFigureOut">
              <a:rPr lang="de-DE" smtClean="0"/>
              <a:t>12.10.25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976C2B-432E-40FA-BD82-526215F83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8DD793-DB9D-48DE-BE05-FB76A115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F0AB555-1637-45AA-8BE3-A522B2EDF89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109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E3195E9B-F05D-4615-B542-936C8762006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04955" y="6123708"/>
            <a:ext cx="656278" cy="34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13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B200AE4-4BB0-45E2-BF76-953BC07FE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D84EAC81-8748-45A9-9E48-D8B6C99A5DB4}"/>
              </a:ext>
            </a:extLst>
          </p:cNvPr>
          <p:cNvSpPr txBox="1"/>
          <p:nvPr/>
        </p:nvSpPr>
        <p:spPr>
          <a:xfrm>
            <a:off x="5004486" y="4597651"/>
            <a:ext cx="6411025" cy="14514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eaLnBrk="0" hangingPunct="0"/>
            <a:r>
              <a:rPr lang="de-DE" sz="4400" spc="30" dirty="0" err="1">
                <a:solidFill>
                  <a:srgbClr val="C7DE37"/>
                </a:solidFill>
                <a:latin typeface="Oswald Regular"/>
                <a:cs typeface="Oswald Regular"/>
              </a:rPr>
              <a:t>Introduction</a:t>
            </a:r>
            <a:r>
              <a:rPr lang="de-DE" sz="4400" spc="30" dirty="0">
                <a:solidFill>
                  <a:srgbClr val="C7DE37"/>
                </a:solidFill>
                <a:latin typeface="Oswald Regular"/>
                <a:cs typeface="Oswald Regular"/>
              </a:rPr>
              <a:t> </a:t>
            </a:r>
            <a:r>
              <a:rPr lang="de-DE" sz="4400" spc="30" dirty="0" err="1">
                <a:solidFill>
                  <a:srgbClr val="C7DE37"/>
                </a:solidFill>
                <a:latin typeface="Oswald Regular"/>
                <a:cs typeface="Oswald Regular"/>
              </a:rPr>
              <a:t>to</a:t>
            </a:r>
            <a:r>
              <a:rPr lang="de-DE" sz="4400" spc="30" dirty="0">
                <a:solidFill>
                  <a:srgbClr val="C7DE37"/>
                </a:solidFill>
                <a:latin typeface="Oswald Regular"/>
                <a:cs typeface="Oswald Regular"/>
              </a:rPr>
              <a:t> ASYN</a:t>
            </a:r>
            <a:br>
              <a:rPr lang="de-DE" sz="4400" spc="30" dirty="0">
                <a:solidFill>
                  <a:srgbClr val="C7DE37"/>
                </a:solidFill>
                <a:latin typeface="Oswald Regular"/>
                <a:cs typeface="Oswald Regular"/>
              </a:rPr>
            </a:br>
            <a:r>
              <a:rPr lang="de-DE" sz="4400" spc="30" dirty="0">
                <a:solidFill>
                  <a:srgbClr val="C7DE37"/>
                </a:solidFill>
                <a:latin typeface="Oswald Regular"/>
                <a:cs typeface="Oswald Regular"/>
              </a:rPr>
              <a:t>Design, Features and </a:t>
            </a:r>
            <a:r>
              <a:rPr lang="de-DE" sz="4400" spc="30" dirty="0" err="1">
                <a:solidFill>
                  <a:srgbClr val="C7DE37"/>
                </a:solidFill>
                <a:latin typeface="Oswald Regular"/>
                <a:cs typeface="Oswald Regular"/>
              </a:rPr>
              <a:t>Usage</a:t>
            </a:r>
            <a:endParaRPr lang="de-DE" sz="4400" spc="30" dirty="0">
              <a:solidFill>
                <a:srgbClr val="C7DE37"/>
              </a:solidFill>
              <a:latin typeface="Oswald Regular"/>
              <a:cs typeface="Oswald Regular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B20AEB-16DA-447D-918E-30BDB777D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617" y="1513153"/>
            <a:ext cx="1865076" cy="98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2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8767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The ASYN Framework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Parts and concepts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Functional and data interfaces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processing: asynchronous and synchronous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Advantages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Tracing and debugging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Use cases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3862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ASYN Parts and Concepts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275" y="1253331"/>
            <a:ext cx="10515600" cy="4351338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Generic EPICS Device Support for all record types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need to write Device Support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Pluggable named ports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One thread per blocking port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does thread handling, queueing, locking, protection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Named data type interfaces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Drivers implement interfaces based on their data types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Interpose layers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Allow building layered protocol stacks from reusable blocks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Tracing facility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22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ASYN Port Interfaces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</a:t>
            </a:r>
          </a:p>
          <a:p>
            <a:pPr lvl="1"/>
            <a:r>
              <a:rPr lang="en-US" dirty="0"/>
              <a:t>Connection handling</a:t>
            </a:r>
          </a:p>
          <a:p>
            <a:pPr lvl="1"/>
            <a:r>
              <a:rPr lang="en-US" dirty="0"/>
              <a:t>Status</a:t>
            </a:r>
          </a:p>
          <a:p>
            <a:pPr lvl="1"/>
            <a:r>
              <a:rPr lang="en-US" dirty="0"/>
              <a:t>Tracing and error handling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Octet (stream of bytes)</a:t>
            </a:r>
          </a:p>
          <a:p>
            <a:pPr lvl="1"/>
            <a:r>
              <a:rPr lang="en-US" dirty="0"/>
              <a:t>Int32, UInt32</a:t>
            </a:r>
          </a:p>
          <a:p>
            <a:pPr lvl="1"/>
            <a:r>
              <a:rPr lang="en-US" dirty="0"/>
              <a:t>Float64</a:t>
            </a:r>
          </a:p>
          <a:p>
            <a:pPr lvl="1"/>
            <a:r>
              <a:rPr lang="en-US" dirty="0"/>
              <a:t>Arrays: Int8, Int16, Int32, Float32, Float64</a:t>
            </a:r>
          </a:p>
          <a:p>
            <a:pPr lvl="1"/>
            <a:r>
              <a:rPr lang="en-US" dirty="0" err="1"/>
              <a:t>Enum</a:t>
            </a:r>
            <a:endParaRPr lang="en-US" dirty="0"/>
          </a:p>
          <a:p>
            <a:pPr lvl="1"/>
            <a:r>
              <a:rPr lang="en-US" dirty="0"/>
              <a:t>Opaque pointer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7361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 bwMode="auto">
          <a:xfrm>
            <a:off x="3290364" y="1620000"/>
            <a:ext cx="6336704" cy="4185264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Scanner thread</a:t>
            </a:r>
            <a:endParaRPr lang="en-GB" sz="2000" i="1" dirty="0"/>
          </a:p>
        </p:txBody>
      </p:sp>
      <p:sp>
        <p:nvSpPr>
          <p:cNvPr id="45" name="Rectangle 44"/>
          <p:cNvSpPr/>
          <p:nvPr/>
        </p:nvSpPr>
        <p:spPr bwMode="auto">
          <a:xfrm>
            <a:off x="3146348" y="4952403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6402579" y="5124437"/>
            <a:ext cx="1495922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ASYN Processing: Synchronous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146348" y="2124056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146348" y="3132168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146348" y="4140280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434380" y="229609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4010444" y="330420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4586508" y="431231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2579" y="5076384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Blocking IO</a:t>
            </a:r>
            <a:endParaRPr lang="en-GB" sz="2000" i="1" dirty="0"/>
          </a:p>
        </p:txBody>
      </p:sp>
      <p:sp>
        <p:nvSpPr>
          <p:cNvPr id="14" name="Rounded Rectangle 13"/>
          <p:cNvSpPr/>
          <p:nvPr/>
        </p:nvSpPr>
        <p:spPr bwMode="auto">
          <a:xfrm>
            <a:off x="7754860" y="4312313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8330924" y="330420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906988" y="2296091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 bwMode="auto">
          <a:xfrm>
            <a:off x="3722412" y="2600093"/>
            <a:ext cx="576064" cy="7041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11" idx="2"/>
            <a:endCxn id="12" idx="0"/>
          </p:cNvCxnSpPr>
          <p:nvPr/>
        </p:nvCxnSpPr>
        <p:spPr bwMode="auto">
          <a:xfrm>
            <a:off x="4298476" y="3608205"/>
            <a:ext cx="576064" cy="704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14" idx="0"/>
          </p:cNvCxnSpPr>
          <p:nvPr/>
        </p:nvCxnSpPr>
        <p:spPr bwMode="auto">
          <a:xfrm flipV="1">
            <a:off x="8042892" y="3608204"/>
            <a:ext cx="576064" cy="7041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15" idx="0"/>
          </p:cNvCxnSpPr>
          <p:nvPr/>
        </p:nvCxnSpPr>
        <p:spPr bwMode="auto">
          <a:xfrm flipV="1">
            <a:off x="8618956" y="2600093"/>
            <a:ext cx="576064" cy="704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Box 32"/>
          <p:cNvSpPr txBox="1"/>
          <p:nvPr/>
        </p:nvSpPr>
        <p:spPr>
          <a:xfrm>
            <a:off x="4082452" y="2426537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PACT=0</a:t>
            </a:r>
            <a:endParaRPr lang="en-GB" sz="1400" dirty="0"/>
          </a:p>
        </p:txBody>
      </p:sp>
      <p:cxnSp>
        <p:nvCxnSpPr>
          <p:cNvPr id="36" name="Straight Arrow Connector 35"/>
          <p:cNvCxnSpPr>
            <a:stCxn id="30" idx="2"/>
            <a:endCxn id="13" idx="1"/>
          </p:cNvCxnSpPr>
          <p:nvPr/>
        </p:nvCxnSpPr>
        <p:spPr bwMode="auto">
          <a:xfrm>
            <a:off x="6170685" y="3608201"/>
            <a:ext cx="231895" cy="16682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stCxn id="13" idx="3"/>
            <a:endCxn id="14" idx="2"/>
          </p:cNvCxnSpPr>
          <p:nvPr/>
        </p:nvCxnSpPr>
        <p:spPr bwMode="auto">
          <a:xfrm flipV="1">
            <a:off x="7754232" y="4616313"/>
            <a:ext cx="288661" cy="6601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40"/>
          <p:cNvSpPr txBox="1"/>
          <p:nvPr/>
        </p:nvSpPr>
        <p:spPr>
          <a:xfrm>
            <a:off x="2139802" y="2094149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Record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2185968" y="3094276"/>
            <a:ext cx="97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ASYN</a:t>
            </a:r>
            <a:br>
              <a:rPr lang="en-US" sz="2000" dirty="0"/>
            </a:br>
            <a:r>
              <a:rPr lang="en-US" sz="2000" dirty="0" err="1"/>
              <a:t>DevSup</a:t>
            </a:r>
            <a:endParaRPr lang="en-GB" sz="2000" dirty="0"/>
          </a:p>
        </p:txBody>
      </p:sp>
      <p:sp>
        <p:nvSpPr>
          <p:cNvPr id="43" name="TextBox 42"/>
          <p:cNvSpPr txBox="1"/>
          <p:nvPr/>
        </p:nvSpPr>
        <p:spPr>
          <a:xfrm>
            <a:off x="2406337" y="4264261"/>
            <a:ext cx="740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ASYN</a:t>
            </a:r>
            <a:endParaRPr lang="en-GB" sz="2000" dirty="0"/>
          </a:p>
        </p:txBody>
      </p:sp>
      <p:sp>
        <p:nvSpPr>
          <p:cNvPr id="30" name="Rounded Rectangle 29"/>
          <p:cNvSpPr/>
          <p:nvPr/>
        </p:nvSpPr>
        <p:spPr bwMode="auto">
          <a:xfrm>
            <a:off x="5882652" y="3304201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25" name="Straight Arrow Connector 24"/>
          <p:cNvCxnSpPr>
            <a:stCxn id="12" idx="3"/>
            <a:endCxn id="30" idx="1"/>
          </p:cNvCxnSpPr>
          <p:nvPr/>
        </p:nvCxnSpPr>
        <p:spPr bwMode="auto">
          <a:xfrm flipV="1">
            <a:off x="5162572" y="3456202"/>
            <a:ext cx="720080" cy="10081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Box 37"/>
          <p:cNvSpPr txBox="1"/>
          <p:nvPr/>
        </p:nvSpPr>
        <p:spPr>
          <a:xfrm>
            <a:off x="5106473" y="3806370"/>
            <a:ext cx="788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Callback</a:t>
            </a:r>
            <a:endParaRPr lang="en-GB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690097" y="4308537"/>
            <a:ext cx="8643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Lock port</a:t>
            </a:r>
            <a:endParaRPr lang="en-GB" sz="1400" dirty="0"/>
          </a:p>
        </p:txBody>
      </p:sp>
      <p:sp>
        <p:nvSpPr>
          <p:cNvPr id="44" name="TextBox 43"/>
          <p:cNvSpPr txBox="1"/>
          <p:nvPr/>
        </p:nvSpPr>
        <p:spPr>
          <a:xfrm>
            <a:off x="8330924" y="4308537"/>
            <a:ext cx="1040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Unlock port</a:t>
            </a:r>
            <a:endParaRPr lang="en-GB" sz="1400" dirty="0"/>
          </a:p>
        </p:txBody>
      </p:sp>
      <p:sp>
        <p:nvSpPr>
          <p:cNvPr id="46" name="TextBox 45"/>
          <p:cNvSpPr txBox="1"/>
          <p:nvPr/>
        </p:nvSpPr>
        <p:spPr>
          <a:xfrm>
            <a:off x="1827975" y="5076384"/>
            <a:ext cx="1318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Port Driver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4780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Record Processing: Synchronous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3290364" y="1620000"/>
            <a:ext cx="6336704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Scanner thread</a:t>
            </a:r>
            <a:endParaRPr lang="en-GB" sz="2000" i="1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146348" y="2124056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146348" y="3132168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146348" y="4140280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434380" y="229609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4010444" y="3304204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4586508" y="4312314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7754860" y="4312313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8330924" y="3304202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906988" y="2296091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 bwMode="auto">
          <a:xfrm>
            <a:off x="3722412" y="2600093"/>
            <a:ext cx="576064" cy="7041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11" idx="2"/>
            <a:endCxn id="12" idx="0"/>
          </p:cNvCxnSpPr>
          <p:nvPr/>
        </p:nvCxnSpPr>
        <p:spPr bwMode="auto">
          <a:xfrm>
            <a:off x="4298476" y="3608205"/>
            <a:ext cx="576064" cy="704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14" idx="0"/>
          </p:cNvCxnSpPr>
          <p:nvPr/>
        </p:nvCxnSpPr>
        <p:spPr bwMode="auto">
          <a:xfrm flipV="1">
            <a:off x="8042892" y="3608204"/>
            <a:ext cx="576064" cy="7041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15" idx="0"/>
          </p:cNvCxnSpPr>
          <p:nvPr/>
        </p:nvCxnSpPr>
        <p:spPr bwMode="auto">
          <a:xfrm flipV="1">
            <a:off x="8618956" y="2600093"/>
            <a:ext cx="576064" cy="704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Box 32"/>
          <p:cNvSpPr txBox="1"/>
          <p:nvPr/>
        </p:nvSpPr>
        <p:spPr>
          <a:xfrm>
            <a:off x="4082452" y="2426537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PACT=0</a:t>
            </a:r>
            <a:endParaRPr lang="en-GB" sz="1400" dirty="0"/>
          </a:p>
        </p:txBody>
      </p:sp>
      <p:cxnSp>
        <p:nvCxnSpPr>
          <p:cNvPr id="36" name="Straight Arrow Connector 35"/>
          <p:cNvCxnSpPr>
            <a:stCxn id="12" idx="2"/>
            <a:endCxn id="50" idx="1"/>
          </p:cNvCxnSpPr>
          <p:nvPr/>
        </p:nvCxnSpPr>
        <p:spPr bwMode="auto">
          <a:xfrm>
            <a:off x="4874540" y="4616315"/>
            <a:ext cx="780078" cy="6120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endCxn id="14" idx="2"/>
          </p:cNvCxnSpPr>
          <p:nvPr/>
        </p:nvCxnSpPr>
        <p:spPr bwMode="auto">
          <a:xfrm flipV="1">
            <a:off x="7150540" y="4616313"/>
            <a:ext cx="892352" cy="612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40"/>
          <p:cNvSpPr txBox="1"/>
          <p:nvPr/>
        </p:nvSpPr>
        <p:spPr>
          <a:xfrm>
            <a:off x="2139802" y="2094149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Record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2139802" y="3094276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Device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43" name="TextBox 42"/>
          <p:cNvSpPr txBox="1"/>
          <p:nvPr/>
        </p:nvSpPr>
        <p:spPr>
          <a:xfrm>
            <a:off x="2128122" y="4110373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Driver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5654618" y="5028330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Blocking IO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3971992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 bwMode="auto">
          <a:xfrm>
            <a:off x="7428000" y="1620000"/>
            <a:ext cx="2196000" cy="4185264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Callback thread</a:t>
            </a:r>
            <a:endParaRPr lang="en-GB" sz="2000" i="1" dirty="0"/>
          </a:p>
        </p:txBody>
      </p:sp>
      <p:sp>
        <p:nvSpPr>
          <p:cNvPr id="56" name="Rectangle 55"/>
          <p:cNvSpPr/>
          <p:nvPr/>
        </p:nvSpPr>
        <p:spPr bwMode="auto">
          <a:xfrm>
            <a:off x="5412666" y="1620000"/>
            <a:ext cx="1963222" cy="4185264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Port thread</a:t>
            </a:r>
            <a:endParaRPr lang="en-GB" sz="2000" i="1" dirty="0"/>
          </a:p>
        </p:txBody>
      </p:sp>
      <p:sp>
        <p:nvSpPr>
          <p:cNvPr id="32" name="Rectangle 31"/>
          <p:cNvSpPr/>
          <p:nvPr/>
        </p:nvSpPr>
        <p:spPr bwMode="auto">
          <a:xfrm>
            <a:off x="3290366" y="1620000"/>
            <a:ext cx="2070189" cy="4185264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Scanner thread</a:t>
            </a:r>
            <a:endParaRPr lang="en-GB" sz="2000" i="1" dirty="0"/>
          </a:p>
        </p:txBody>
      </p:sp>
      <p:sp>
        <p:nvSpPr>
          <p:cNvPr id="107" name="Rectangle 106"/>
          <p:cNvSpPr/>
          <p:nvPr/>
        </p:nvSpPr>
        <p:spPr bwMode="auto">
          <a:xfrm>
            <a:off x="3146348" y="4952403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ASYN Processing: Asynchronous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146348" y="2124056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9802" y="2094149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Record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3146348" y="3132168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85968" y="3094276"/>
            <a:ext cx="9720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ASYN</a:t>
            </a:r>
            <a:br>
              <a:rPr lang="en-US" sz="2000" dirty="0"/>
            </a:br>
            <a:r>
              <a:rPr lang="en-US" sz="2000" dirty="0" err="1"/>
              <a:t>DevSup</a:t>
            </a:r>
            <a:endParaRPr lang="en-GB" sz="2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3146348" y="4140280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434380" y="229609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578396" y="3296220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3722412" y="4315048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905425" y="232461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 bwMode="auto">
          <a:xfrm>
            <a:off x="3722412" y="2600093"/>
            <a:ext cx="144016" cy="6961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11" idx="2"/>
            <a:endCxn id="12" idx="0"/>
          </p:cNvCxnSpPr>
          <p:nvPr/>
        </p:nvCxnSpPr>
        <p:spPr bwMode="auto">
          <a:xfrm>
            <a:off x="3866428" y="3600221"/>
            <a:ext cx="144016" cy="7148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42" idx="3"/>
            <a:endCxn id="16" idx="2"/>
          </p:cNvCxnSpPr>
          <p:nvPr/>
        </p:nvCxnSpPr>
        <p:spPr bwMode="auto">
          <a:xfrm flipV="1">
            <a:off x="8814033" y="2628614"/>
            <a:ext cx="379425" cy="819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Box 32"/>
          <p:cNvSpPr txBox="1"/>
          <p:nvPr/>
        </p:nvSpPr>
        <p:spPr>
          <a:xfrm>
            <a:off x="3976561" y="2416999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PACT=0</a:t>
            </a:r>
            <a:endParaRPr lang="en-GB" sz="1400" dirty="0"/>
          </a:p>
        </p:txBody>
      </p:sp>
      <p:cxnSp>
        <p:nvCxnSpPr>
          <p:cNvPr id="30" name="Straight Arrow Connector 29"/>
          <p:cNvCxnSpPr>
            <a:stCxn id="12" idx="3"/>
          </p:cNvCxnSpPr>
          <p:nvPr/>
        </p:nvCxnSpPr>
        <p:spPr bwMode="auto">
          <a:xfrm flipV="1">
            <a:off x="4298476" y="2296092"/>
            <a:ext cx="717404" cy="21709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/>
          <p:cNvSpPr txBox="1"/>
          <p:nvPr/>
        </p:nvSpPr>
        <p:spPr>
          <a:xfrm>
            <a:off x="4376961" y="3211456"/>
            <a:ext cx="7363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Leaving</a:t>
            </a:r>
            <a:br>
              <a:rPr lang="en-US" sz="1400" dirty="0"/>
            </a:br>
            <a:r>
              <a:rPr lang="en-US" sz="1400" dirty="0"/>
              <a:t>PACT=1</a:t>
            </a:r>
            <a:endParaRPr lang="en-GB" sz="1400" dirty="0"/>
          </a:p>
        </p:txBody>
      </p:sp>
      <p:sp>
        <p:nvSpPr>
          <p:cNvPr id="41" name="Rounded Rectangle 40"/>
          <p:cNvSpPr/>
          <p:nvPr/>
        </p:nvSpPr>
        <p:spPr bwMode="auto">
          <a:xfrm>
            <a:off x="7552597" y="232461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>
            <a:off x="8237968" y="329621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44" name="Straight Arrow Connector 43"/>
          <p:cNvCxnSpPr>
            <a:stCxn id="41" idx="2"/>
            <a:endCxn id="42" idx="1"/>
          </p:cNvCxnSpPr>
          <p:nvPr/>
        </p:nvCxnSpPr>
        <p:spPr bwMode="auto">
          <a:xfrm>
            <a:off x="7840630" y="2628614"/>
            <a:ext cx="397339" cy="819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8072100" y="2416999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PACT=1</a:t>
            </a:r>
            <a:endParaRPr lang="en-GB" sz="1400" dirty="0"/>
          </a:p>
        </p:txBody>
      </p:sp>
      <p:sp>
        <p:nvSpPr>
          <p:cNvPr id="24" name="Rectangle 23"/>
          <p:cNvSpPr/>
          <p:nvPr/>
        </p:nvSpPr>
        <p:spPr bwMode="auto">
          <a:xfrm>
            <a:off x="4477047" y="4457122"/>
            <a:ext cx="909429" cy="156622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47" name="Rounded Rectangle 46"/>
          <p:cNvSpPr/>
          <p:nvPr/>
        </p:nvSpPr>
        <p:spPr bwMode="auto">
          <a:xfrm>
            <a:off x="5577164" y="4305123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350530" y="4159271"/>
            <a:ext cx="11239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work queues</a:t>
            </a:r>
            <a:endParaRPr lang="en-GB" sz="1400" dirty="0"/>
          </a:p>
        </p:txBody>
      </p:sp>
      <p:sp>
        <p:nvSpPr>
          <p:cNvPr id="51" name="Rounded Rectangle 50"/>
          <p:cNvSpPr/>
          <p:nvPr/>
        </p:nvSpPr>
        <p:spPr bwMode="auto">
          <a:xfrm>
            <a:off x="5692470" y="5124438"/>
            <a:ext cx="1495922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710755" y="5076384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Blocking IO</a:t>
            </a:r>
            <a:endParaRPr lang="en-GB" sz="2000" i="1" dirty="0"/>
          </a:p>
        </p:txBody>
      </p:sp>
      <p:sp>
        <p:nvSpPr>
          <p:cNvPr id="59" name="Rounded Rectangle 58"/>
          <p:cNvSpPr/>
          <p:nvPr/>
        </p:nvSpPr>
        <p:spPr bwMode="auto">
          <a:xfrm>
            <a:off x="6662367" y="4305123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48" name="Straight Arrow Connector 47"/>
          <p:cNvCxnSpPr>
            <a:endCxn id="59" idx="2"/>
          </p:cNvCxnSpPr>
          <p:nvPr/>
        </p:nvCxnSpPr>
        <p:spPr bwMode="auto">
          <a:xfrm flipV="1">
            <a:off x="6950399" y="4609124"/>
            <a:ext cx="0" cy="5153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9" name="Rounded Rectangle 68"/>
          <p:cNvSpPr/>
          <p:nvPr/>
        </p:nvSpPr>
        <p:spPr bwMode="auto">
          <a:xfrm>
            <a:off x="6035051" y="3296216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71" name="Straight Arrow Connector 70"/>
          <p:cNvCxnSpPr>
            <a:stCxn id="47" idx="0"/>
            <a:endCxn id="69" idx="1"/>
          </p:cNvCxnSpPr>
          <p:nvPr/>
        </p:nvCxnSpPr>
        <p:spPr bwMode="auto">
          <a:xfrm flipV="1">
            <a:off x="5865197" y="3448216"/>
            <a:ext cx="169855" cy="8569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4" name="TextBox 73"/>
          <p:cNvSpPr txBox="1"/>
          <p:nvPr/>
        </p:nvSpPr>
        <p:spPr>
          <a:xfrm>
            <a:off x="5490805" y="3806370"/>
            <a:ext cx="7889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Callback</a:t>
            </a:r>
            <a:endParaRPr lang="en-GB" sz="1400" dirty="0"/>
          </a:p>
        </p:txBody>
      </p:sp>
      <p:cxnSp>
        <p:nvCxnSpPr>
          <p:cNvPr id="81" name="Elbow Connector 80"/>
          <p:cNvCxnSpPr>
            <a:stCxn id="69" idx="2"/>
          </p:cNvCxnSpPr>
          <p:nvPr/>
        </p:nvCxnSpPr>
        <p:spPr bwMode="auto">
          <a:xfrm rot="5400000">
            <a:off x="5328755" y="4130112"/>
            <a:ext cx="1524224" cy="464432"/>
          </a:xfrm>
          <a:prstGeom prst="bentConnector3">
            <a:avLst>
              <a:gd name="adj1" fmla="val 8437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8" name="Straight Arrow Connector 87"/>
          <p:cNvCxnSpPr/>
          <p:nvPr/>
        </p:nvCxnSpPr>
        <p:spPr bwMode="auto">
          <a:xfrm flipV="1">
            <a:off x="6950400" y="2324614"/>
            <a:ext cx="432049" cy="19737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Box 61"/>
          <p:cNvSpPr txBox="1"/>
          <p:nvPr/>
        </p:nvSpPr>
        <p:spPr>
          <a:xfrm>
            <a:off x="6713287" y="3194594"/>
            <a:ext cx="96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Request</a:t>
            </a:r>
            <a:br>
              <a:rPr lang="en-US" sz="1400" dirty="0"/>
            </a:br>
            <a:r>
              <a:rPr lang="en-US" sz="1400" dirty="0"/>
              <a:t>processing</a:t>
            </a:r>
            <a:endParaRPr lang="en-GB" sz="1400" dirty="0"/>
          </a:p>
        </p:txBody>
      </p:sp>
      <p:sp>
        <p:nvSpPr>
          <p:cNvPr id="100" name="TextBox 99"/>
          <p:cNvSpPr txBox="1"/>
          <p:nvPr/>
        </p:nvSpPr>
        <p:spPr>
          <a:xfrm>
            <a:off x="5577165" y="4317211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Lock</a:t>
            </a:r>
            <a:endParaRPr lang="en-GB" sz="1400" dirty="0"/>
          </a:p>
        </p:txBody>
      </p:sp>
      <p:sp>
        <p:nvSpPr>
          <p:cNvPr id="101" name="TextBox 100"/>
          <p:cNvSpPr txBox="1"/>
          <p:nvPr/>
        </p:nvSpPr>
        <p:spPr>
          <a:xfrm>
            <a:off x="6583953" y="4307286"/>
            <a:ext cx="6880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Unlock</a:t>
            </a:r>
            <a:endParaRPr lang="en-GB" sz="14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827975" y="5076384"/>
            <a:ext cx="13183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Port Driver</a:t>
            </a:r>
            <a:endParaRPr lang="en-GB" sz="2000" dirty="0"/>
          </a:p>
        </p:txBody>
      </p:sp>
      <p:sp>
        <p:nvSpPr>
          <p:cNvPr id="112" name="TextBox 111"/>
          <p:cNvSpPr txBox="1"/>
          <p:nvPr/>
        </p:nvSpPr>
        <p:spPr>
          <a:xfrm>
            <a:off x="2406337" y="4264261"/>
            <a:ext cx="7400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ASYN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235963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Record Processing: Asynchronous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58" name="Rectangle 57"/>
          <p:cNvSpPr/>
          <p:nvPr/>
        </p:nvSpPr>
        <p:spPr bwMode="auto">
          <a:xfrm>
            <a:off x="6551532" y="1620000"/>
            <a:ext cx="3075536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Callback thread</a:t>
            </a:r>
            <a:endParaRPr lang="en-GB" sz="2000" i="1" dirty="0"/>
          </a:p>
        </p:txBody>
      </p:sp>
      <p:sp>
        <p:nvSpPr>
          <p:cNvPr id="56" name="Rectangle 55"/>
          <p:cNvSpPr/>
          <p:nvPr/>
        </p:nvSpPr>
        <p:spPr bwMode="auto">
          <a:xfrm>
            <a:off x="5785010" y="1620000"/>
            <a:ext cx="720148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IRQ</a:t>
            </a:r>
            <a:endParaRPr lang="en-GB" sz="2000" i="1" dirty="0"/>
          </a:p>
        </p:txBody>
      </p:sp>
      <p:sp>
        <p:nvSpPr>
          <p:cNvPr id="32" name="Rectangle 31"/>
          <p:cNvSpPr/>
          <p:nvPr/>
        </p:nvSpPr>
        <p:spPr bwMode="auto">
          <a:xfrm>
            <a:off x="3290366" y="1620000"/>
            <a:ext cx="2448271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Scanner thread</a:t>
            </a:r>
            <a:endParaRPr lang="en-GB" sz="2000" i="1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146348" y="2124056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9802" y="2094149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Record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3146348" y="3132168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9802" y="3094276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Device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3146348" y="4140280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28122" y="4110373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Driver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10" name="Rounded Rectangle 9"/>
          <p:cNvSpPr/>
          <p:nvPr/>
        </p:nvSpPr>
        <p:spPr bwMode="auto">
          <a:xfrm>
            <a:off x="3434380" y="229609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722412" y="3296220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4115633" y="4312312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0663" y="4969216"/>
            <a:ext cx="1299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IO Request</a:t>
            </a:r>
            <a:endParaRPr lang="en-GB" sz="2000" i="1" dirty="0"/>
          </a:p>
        </p:txBody>
      </p:sp>
      <p:sp>
        <p:nvSpPr>
          <p:cNvPr id="15" name="Rounded Rectangle 14"/>
          <p:cNvSpPr/>
          <p:nvPr/>
        </p:nvSpPr>
        <p:spPr bwMode="auto">
          <a:xfrm>
            <a:off x="8646659" y="3306014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905425" y="232461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 bwMode="auto">
          <a:xfrm>
            <a:off x="3722412" y="2600093"/>
            <a:ext cx="288032" cy="6961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11" idx="2"/>
            <a:endCxn id="12" idx="0"/>
          </p:cNvCxnSpPr>
          <p:nvPr/>
        </p:nvCxnSpPr>
        <p:spPr bwMode="auto">
          <a:xfrm>
            <a:off x="4010445" y="3600221"/>
            <a:ext cx="393221" cy="712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43" idx="3"/>
            <a:endCxn id="15" idx="2"/>
          </p:cNvCxnSpPr>
          <p:nvPr/>
        </p:nvCxnSpPr>
        <p:spPr bwMode="auto">
          <a:xfrm flipV="1">
            <a:off x="8490805" y="3610014"/>
            <a:ext cx="443887" cy="8555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15" idx="0"/>
            <a:endCxn id="16" idx="2"/>
          </p:cNvCxnSpPr>
          <p:nvPr/>
        </p:nvCxnSpPr>
        <p:spPr bwMode="auto">
          <a:xfrm flipV="1">
            <a:off x="8934691" y="2628615"/>
            <a:ext cx="258766" cy="6773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Box 32"/>
          <p:cNvSpPr txBox="1"/>
          <p:nvPr/>
        </p:nvSpPr>
        <p:spPr>
          <a:xfrm>
            <a:off x="3976561" y="2416999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PACT=0</a:t>
            </a:r>
            <a:endParaRPr lang="en-GB" sz="1400" dirty="0"/>
          </a:p>
        </p:txBody>
      </p:sp>
      <p:cxnSp>
        <p:nvCxnSpPr>
          <p:cNvPr id="36" name="Straight Arrow Connector 35"/>
          <p:cNvCxnSpPr>
            <a:stCxn id="12" idx="2"/>
            <a:endCxn id="13" idx="0"/>
          </p:cNvCxnSpPr>
          <p:nvPr/>
        </p:nvCxnSpPr>
        <p:spPr bwMode="auto">
          <a:xfrm>
            <a:off x="4403666" y="4616312"/>
            <a:ext cx="126695" cy="3529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Arrow Connector 29"/>
          <p:cNvCxnSpPr/>
          <p:nvPr/>
        </p:nvCxnSpPr>
        <p:spPr bwMode="auto">
          <a:xfrm flipH="1" flipV="1">
            <a:off x="5360554" y="2296089"/>
            <a:ext cx="2" cy="28731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/>
          <p:cNvSpPr txBox="1"/>
          <p:nvPr/>
        </p:nvSpPr>
        <p:spPr>
          <a:xfrm>
            <a:off x="4620609" y="3451357"/>
            <a:ext cx="1325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Leaving PACT=1</a:t>
            </a:r>
            <a:endParaRPr lang="en-GB" sz="1400" dirty="0"/>
          </a:p>
        </p:txBody>
      </p:sp>
      <p:sp>
        <p:nvSpPr>
          <p:cNvPr id="41" name="Rounded Rectangle 40"/>
          <p:cNvSpPr/>
          <p:nvPr/>
        </p:nvSpPr>
        <p:spPr bwMode="auto">
          <a:xfrm>
            <a:off x="6806383" y="2296090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>
            <a:off x="7194120" y="3306451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43" name="Rounded Rectangle 42"/>
          <p:cNvSpPr/>
          <p:nvPr/>
        </p:nvSpPr>
        <p:spPr bwMode="auto">
          <a:xfrm>
            <a:off x="7914740" y="4313540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44" name="Straight Arrow Connector 43"/>
          <p:cNvCxnSpPr>
            <a:stCxn id="41" idx="2"/>
            <a:endCxn id="42" idx="0"/>
          </p:cNvCxnSpPr>
          <p:nvPr/>
        </p:nvCxnSpPr>
        <p:spPr bwMode="auto">
          <a:xfrm>
            <a:off x="7094416" y="2600090"/>
            <a:ext cx="387737" cy="7063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/>
          <p:cNvCxnSpPr>
            <a:stCxn id="42" idx="2"/>
            <a:endCxn id="43" idx="1"/>
          </p:cNvCxnSpPr>
          <p:nvPr/>
        </p:nvCxnSpPr>
        <p:spPr bwMode="auto">
          <a:xfrm>
            <a:off x="7482152" y="3610452"/>
            <a:ext cx="432588" cy="8550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7348564" y="2416972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PACT=1</a:t>
            </a:r>
            <a:endParaRPr lang="en-GB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5313094" y="5658897"/>
            <a:ext cx="1446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IO Response</a:t>
            </a:r>
            <a:endParaRPr lang="en-GB" sz="2000" i="1" dirty="0"/>
          </a:p>
        </p:txBody>
      </p:sp>
      <p:sp>
        <p:nvSpPr>
          <p:cNvPr id="57" name="Rounded Rectangle 56"/>
          <p:cNvSpPr/>
          <p:nvPr/>
        </p:nvSpPr>
        <p:spPr bwMode="auto">
          <a:xfrm>
            <a:off x="5882652" y="4338381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60" name="Straight Arrow Connector 59"/>
          <p:cNvCxnSpPr>
            <a:stCxn id="57" idx="0"/>
          </p:cNvCxnSpPr>
          <p:nvPr/>
        </p:nvCxnSpPr>
        <p:spPr bwMode="auto">
          <a:xfrm flipV="1">
            <a:off x="6170684" y="2324614"/>
            <a:ext cx="334474" cy="20137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Box 61"/>
          <p:cNvSpPr txBox="1"/>
          <p:nvPr/>
        </p:nvSpPr>
        <p:spPr>
          <a:xfrm>
            <a:off x="5385945" y="3802163"/>
            <a:ext cx="1593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Request processing</a:t>
            </a:r>
            <a:endParaRPr lang="en-GB" sz="1400" dirty="0"/>
          </a:p>
        </p:txBody>
      </p:sp>
      <p:cxnSp>
        <p:nvCxnSpPr>
          <p:cNvPr id="83" name="Straight Arrow Connector 82"/>
          <p:cNvCxnSpPr>
            <a:stCxn id="49" idx="0"/>
          </p:cNvCxnSpPr>
          <p:nvPr/>
        </p:nvCxnSpPr>
        <p:spPr bwMode="auto">
          <a:xfrm flipV="1">
            <a:off x="6036370" y="4642381"/>
            <a:ext cx="108715" cy="1016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91799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1124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ASYN Advantages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Minimizes user code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handles all the complex parts: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Device Support layer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Thread handling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Proper resource locking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Queueing (by priority)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Ports Drivers can be stacked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High level Port Driver for a device (data interfaces)</a:t>
            </a:r>
          </a:p>
          <a:p>
            <a:pPr lvl="1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Low level Port Driver for a connection (octet interface)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861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2270"/>
          </a:xfrm>
        </p:spPr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Tracing and Debugging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trace facility enforces streamlined debug and error messages</a:t>
            </a:r>
          </a:p>
          <a:p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asynRecord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provides access to full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capabilities for debugging</a:t>
            </a:r>
            <a:b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(useful to have one of those on</a:t>
            </a:r>
            <a:b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US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IOC that uses ASYN)</a:t>
            </a:r>
          </a:p>
          <a:p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106" y="2575127"/>
            <a:ext cx="2781732" cy="3687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964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>
                <a:latin typeface="Oswald" pitchFamily="2" charset="77"/>
              </a:rPr>
              <a:t>asynPortDriver</a:t>
            </a:r>
            <a:r>
              <a:rPr lang="en-US" sz="3200" dirty="0">
                <a:latin typeface="Oswald" pitchFamily="2" charset="77"/>
              </a:rPr>
              <a:t> C++ Base Class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the C API requires a lot of boilerplate:</a:t>
            </a:r>
          </a:p>
          <a:p>
            <a:pPr lvl="1"/>
            <a:r>
              <a:rPr lang="en-US" dirty="0"/>
              <a:t>Creating handles</a:t>
            </a:r>
          </a:p>
          <a:p>
            <a:pPr lvl="1"/>
            <a:r>
              <a:rPr lang="en-US" dirty="0"/>
              <a:t>Registering ports and interfaces</a:t>
            </a:r>
          </a:p>
          <a:p>
            <a:pPr lvl="1"/>
            <a:r>
              <a:rPr lang="en-US" dirty="0"/>
              <a:t>Calling interrupt clients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 err="1"/>
              <a:t>asynPortDriver</a:t>
            </a:r>
            <a:r>
              <a:rPr lang="en-US" dirty="0"/>
              <a:t> takes care of all this</a:t>
            </a:r>
          </a:p>
          <a:p>
            <a:pPr lvl="1"/>
            <a:r>
              <a:rPr lang="en-US" dirty="0"/>
              <a:t>Adds generic parameter get/set facility</a:t>
            </a:r>
          </a:p>
          <a:p>
            <a:r>
              <a:rPr lang="en-US" i="1" dirty="0"/>
              <a:t>Using this C++ base class is the recommended way to create a Port Driver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199253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Applications 1) Swapping a Driver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Instrument (vacuum pump) on a serial connection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Lab setup: serial line connected to IOC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Production setup: serial line to terminal server, IOC connects through TCP/IP</a:t>
            </a:r>
          </a:p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can at startup (or in the live system) switch the low level (octet) driver from </a:t>
            </a:r>
            <a:r>
              <a:rPr lang="en-US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drvAsynSerialPort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</a:t>
            </a:r>
            <a:r>
              <a:rPr lang="en-US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drvAsynIPPort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without changing the high level driver (for the pump) or the EPICS database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937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Applications 2) Swapping a Protocol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Siemens PLC (with SPSS communication package) using the next version of S7Asyn driver</a:t>
            </a:r>
          </a:p>
          <a:p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can at startup switch the high level (items in PLC data block) driver from 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Raw TCP block read/write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the 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Native S7 protocol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without changing the EPICS database.</a:t>
            </a:r>
          </a:p>
        </p:txBody>
      </p:sp>
    </p:spTree>
    <p:extLst>
      <p:ext uri="{BB962C8B-B14F-4D97-AF65-F5344CB8AC3E}">
        <p14:creationId xmlns:p14="http://schemas.microsoft.com/office/powerpoint/2010/main" val="113931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Applications 3) Adding a Checksum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Device offers same protocol on TCP/IP and RS232, but the RS232 needs checksums after each message.</a:t>
            </a: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 ASYN interpose module can implement the calculation/adding (on send) and check/removal (on receive) of a checksum.</a:t>
            </a: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the low level (octet) driver can again be switched from </a:t>
            </a:r>
            <a:r>
              <a:rPr lang="en-US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drvAsynSerialPort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with checksum interpose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to </a:t>
            </a:r>
            <a:r>
              <a:rPr lang="en-US" dirty="0" err="1">
                <a:solidFill>
                  <a:srgbClr val="0070C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drvAsynIPPort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, without changing anything above.</a:t>
            </a: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5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Conclusion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ASYN extends the somewhat sloppy EPICS device interface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Device driver framework with pluggable reusable modules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 type specific interfaces (instead of record type)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Interpose modules to implement protocol stacks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Tracing/debugging support</a:t>
            </a:r>
          </a:p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Convenience C++ base class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b="1" dirty="0"/>
              <a:t>Questions?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5618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>
                <a:latin typeface="Oswald" pitchFamily="2" charset="77"/>
              </a:rPr>
              <a:t>EPICS Device Interface</a:t>
            </a:r>
            <a:endParaRPr lang="en-GB" sz="3200" dirty="0">
              <a:latin typeface="Oswald" pitchFamily="2" charset="77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IOC architecture: EPICS support layers</a:t>
            </a:r>
          </a:p>
          <a:p>
            <a:r>
              <a:rPr lang="en-US" dirty="0"/>
              <a:t>Traditional Device and Driver Support APIs</a:t>
            </a:r>
          </a:p>
          <a:p>
            <a:r>
              <a:rPr lang="en-US" dirty="0"/>
              <a:t>Record processing: synchronous and asynchronous</a:t>
            </a:r>
          </a:p>
          <a:p>
            <a:r>
              <a:rPr lang="en-US" dirty="0"/>
              <a:t>Caveats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307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IOC Architecture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2871" y="1772816"/>
            <a:ext cx="6012160" cy="4375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752184" y="1752600"/>
            <a:ext cx="2345904" cy="41966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APIs are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</a:rPr>
              <a:t>Well defined</a:t>
            </a:r>
            <a:br>
              <a:rPr lang="en-US" sz="2000" dirty="0">
                <a:solidFill>
                  <a:srgbClr val="FF0000"/>
                </a:solidFill>
              </a:rPr>
            </a:b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Well defined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Pretty well defined</a:t>
            </a:r>
          </a:p>
          <a:p>
            <a:pPr marL="0" indent="0">
              <a:buNone/>
            </a:pP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Poorly defined</a:t>
            </a:r>
            <a:endParaRPr lang="en-GB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352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and Driver Support APIs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Device Support</a:t>
            </a:r>
            <a:r>
              <a:rPr lang="en-US" dirty="0"/>
              <a:t>: jump table per record type</a:t>
            </a:r>
          </a:p>
          <a:p>
            <a:pPr marL="469900" lvl="1" indent="0">
              <a:buNone/>
            </a:pPr>
            <a:r>
              <a:rPr lang="en-US" dirty="0"/>
              <a:t>report</a:t>
            </a:r>
          </a:p>
          <a:p>
            <a:pPr marL="469900" lvl="1" indent="0">
              <a:buNone/>
            </a:pPr>
            <a:r>
              <a:rPr lang="en-US" dirty="0" err="1"/>
              <a:t>init</a:t>
            </a:r>
            <a:r>
              <a:rPr lang="en-US" dirty="0"/>
              <a:t> (once per support)</a:t>
            </a:r>
          </a:p>
          <a:p>
            <a:pPr marL="469900" lvl="1" indent="0">
              <a:buNone/>
            </a:pPr>
            <a:r>
              <a:rPr lang="en-US" dirty="0" err="1"/>
              <a:t>init</a:t>
            </a:r>
            <a:r>
              <a:rPr lang="en-US" dirty="0"/>
              <a:t> (per record instance)</a:t>
            </a:r>
          </a:p>
          <a:p>
            <a:pPr marL="469900" lvl="1" indent="0">
              <a:buNone/>
            </a:pPr>
            <a:r>
              <a:rPr lang="en-US" dirty="0"/>
              <a:t>rec type specific </a:t>
            </a:r>
            <a:r>
              <a:rPr lang="en-US" dirty="0" err="1"/>
              <a:t>io</a:t>
            </a:r>
            <a:r>
              <a:rPr lang="en-US" dirty="0"/>
              <a:t> (read or write)</a:t>
            </a:r>
          </a:p>
          <a:p>
            <a:pPr marL="469900" lvl="1" indent="0">
              <a:buNone/>
            </a:pPr>
            <a:r>
              <a:rPr lang="en-US" dirty="0"/>
              <a:t>get interrupt info (if interrupt scan is supported)</a:t>
            </a:r>
          </a:p>
          <a:p>
            <a:pPr marL="469900" lvl="1" indent="0">
              <a:buNone/>
            </a:pPr>
            <a:r>
              <a:rPr lang="en-US" dirty="0"/>
              <a:t>rec type specific calls (e.g. conversion factor update)</a:t>
            </a:r>
          </a:p>
          <a:p>
            <a:r>
              <a:rPr lang="en-US" b="1" dirty="0">
                <a:solidFill>
                  <a:srgbClr val="0070C0"/>
                </a:solidFill>
              </a:rPr>
              <a:t>Driver Support</a:t>
            </a:r>
            <a:r>
              <a:rPr lang="en-US" dirty="0"/>
              <a:t>: jump table</a:t>
            </a:r>
          </a:p>
          <a:p>
            <a:pPr marL="469900" lvl="1" indent="0">
              <a:buNone/>
            </a:pPr>
            <a:r>
              <a:rPr lang="en-US" dirty="0"/>
              <a:t>report</a:t>
            </a:r>
          </a:p>
          <a:p>
            <a:pPr marL="469900" lvl="1" indent="0">
              <a:buNone/>
            </a:pPr>
            <a:r>
              <a:rPr lang="en-US" dirty="0" err="1"/>
              <a:t>init</a:t>
            </a:r>
            <a:endParaRPr lang="en-US" dirty="0"/>
          </a:p>
          <a:p>
            <a:pPr marL="469900" lvl="1" indent="0">
              <a:buNone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91275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Device/Driver Support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Needs to implement Device Support functions for all supported record types</a:t>
            </a:r>
          </a:p>
          <a:p>
            <a:pPr lvl="1"/>
            <a:r>
              <a:rPr lang="en-US" dirty="0"/>
              <a:t>For a multi-purpose device easily ~10 record types</a:t>
            </a:r>
          </a:p>
          <a:p>
            <a:pPr lvl="1"/>
            <a:r>
              <a:rPr lang="en-US" dirty="0"/>
              <a:t>Must understand how all these record types work</a:t>
            </a:r>
          </a:p>
          <a:p>
            <a:r>
              <a:rPr lang="en-US" dirty="0"/>
              <a:t>Uses private API between Device and Driver Support</a:t>
            </a:r>
          </a:p>
          <a:p>
            <a:pPr lvl="1"/>
            <a:r>
              <a:rPr lang="en-US" dirty="0"/>
              <a:t>Device Support is strongly coupled to a Driver</a:t>
            </a:r>
            <a:endParaRPr lang="en-GB" dirty="0"/>
          </a:p>
          <a:p>
            <a:pPr lvl="1"/>
            <a:r>
              <a:rPr lang="en-GB" dirty="0"/>
              <a:t>Making it practically impossible to swap the Driver</a:t>
            </a:r>
            <a:br>
              <a:rPr lang="en-GB" dirty="0"/>
            </a:br>
            <a:r>
              <a:rPr lang="en-GB" dirty="0"/>
              <a:t>(to use e.g. a different serial line IO board)</a:t>
            </a:r>
          </a:p>
          <a:p>
            <a:r>
              <a:rPr lang="en-US" dirty="0"/>
              <a:t>Each Device/Driver support has their own API, style and format for debugging/tracing</a:t>
            </a:r>
          </a:p>
        </p:txBody>
      </p:sp>
    </p:spTree>
    <p:extLst>
      <p:ext uri="{BB962C8B-B14F-4D97-AF65-F5344CB8AC3E}">
        <p14:creationId xmlns:p14="http://schemas.microsoft.com/office/powerpoint/2010/main" val="973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Processing: Synchronous</a:t>
            </a:r>
            <a:endParaRPr lang="en-GB" dirty="0"/>
          </a:p>
        </p:txBody>
      </p:sp>
      <p:sp>
        <p:nvSpPr>
          <p:cNvPr id="32" name="Rectangle 31"/>
          <p:cNvSpPr/>
          <p:nvPr/>
        </p:nvSpPr>
        <p:spPr bwMode="auto">
          <a:xfrm>
            <a:off x="3290364" y="1620000"/>
            <a:ext cx="6336704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Scanner thread</a:t>
            </a:r>
            <a:endParaRPr lang="en-GB" sz="2000" i="1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146348" y="2124056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146348" y="3132168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3146348" y="4140280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434380" y="229609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4010444" y="3304204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4586508" y="4312314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7754860" y="4312313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5" name="Rounded Rectangle 14"/>
          <p:cNvSpPr/>
          <p:nvPr/>
        </p:nvSpPr>
        <p:spPr bwMode="auto">
          <a:xfrm>
            <a:off x="8330924" y="3304202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906988" y="2296091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 bwMode="auto">
          <a:xfrm>
            <a:off x="3722412" y="2600093"/>
            <a:ext cx="576064" cy="7041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11" idx="2"/>
            <a:endCxn id="12" idx="0"/>
          </p:cNvCxnSpPr>
          <p:nvPr/>
        </p:nvCxnSpPr>
        <p:spPr bwMode="auto">
          <a:xfrm>
            <a:off x="4298476" y="3608205"/>
            <a:ext cx="576064" cy="704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14" idx="0"/>
          </p:cNvCxnSpPr>
          <p:nvPr/>
        </p:nvCxnSpPr>
        <p:spPr bwMode="auto">
          <a:xfrm flipV="1">
            <a:off x="8042892" y="3608204"/>
            <a:ext cx="576064" cy="70410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15" idx="0"/>
          </p:cNvCxnSpPr>
          <p:nvPr/>
        </p:nvCxnSpPr>
        <p:spPr bwMode="auto">
          <a:xfrm flipV="1">
            <a:off x="8618956" y="2600093"/>
            <a:ext cx="576064" cy="7041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Box 32"/>
          <p:cNvSpPr txBox="1"/>
          <p:nvPr/>
        </p:nvSpPr>
        <p:spPr>
          <a:xfrm>
            <a:off x="4082452" y="2426537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PACT=0</a:t>
            </a:r>
            <a:endParaRPr lang="en-GB" sz="1400" dirty="0"/>
          </a:p>
        </p:txBody>
      </p:sp>
      <p:cxnSp>
        <p:nvCxnSpPr>
          <p:cNvPr id="36" name="Straight Arrow Connector 35"/>
          <p:cNvCxnSpPr>
            <a:stCxn id="12" idx="2"/>
            <a:endCxn id="50" idx="1"/>
          </p:cNvCxnSpPr>
          <p:nvPr/>
        </p:nvCxnSpPr>
        <p:spPr bwMode="auto">
          <a:xfrm>
            <a:off x="4874540" y="4616315"/>
            <a:ext cx="780078" cy="6120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" name="Straight Arrow Connector 39"/>
          <p:cNvCxnSpPr>
            <a:endCxn id="14" idx="2"/>
          </p:cNvCxnSpPr>
          <p:nvPr/>
        </p:nvCxnSpPr>
        <p:spPr bwMode="auto">
          <a:xfrm flipV="1">
            <a:off x="7150540" y="4616313"/>
            <a:ext cx="892352" cy="6120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1" name="TextBox 40"/>
          <p:cNvSpPr txBox="1"/>
          <p:nvPr/>
        </p:nvSpPr>
        <p:spPr>
          <a:xfrm>
            <a:off x="2139802" y="2094149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Record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42" name="TextBox 41"/>
          <p:cNvSpPr txBox="1"/>
          <p:nvPr/>
        </p:nvSpPr>
        <p:spPr>
          <a:xfrm>
            <a:off x="2139802" y="3094276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Device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43" name="TextBox 42"/>
          <p:cNvSpPr txBox="1"/>
          <p:nvPr/>
        </p:nvSpPr>
        <p:spPr>
          <a:xfrm>
            <a:off x="2128122" y="4110373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Driver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50" name="TextBox 49"/>
          <p:cNvSpPr txBox="1"/>
          <p:nvPr/>
        </p:nvSpPr>
        <p:spPr>
          <a:xfrm>
            <a:off x="5654618" y="5028330"/>
            <a:ext cx="13516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Blocking IO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2737770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Processing: Asynchronous</a:t>
            </a:r>
            <a:endParaRPr lang="en-GB" dirty="0"/>
          </a:p>
        </p:txBody>
      </p:sp>
      <p:sp>
        <p:nvSpPr>
          <p:cNvPr id="58" name="Rectangle 57"/>
          <p:cNvSpPr/>
          <p:nvPr/>
        </p:nvSpPr>
        <p:spPr bwMode="auto">
          <a:xfrm>
            <a:off x="6551532" y="1620000"/>
            <a:ext cx="3075536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Callback thread</a:t>
            </a:r>
            <a:endParaRPr lang="en-GB" sz="2000" i="1" dirty="0"/>
          </a:p>
        </p:txBody>
      </p:sp>
      <p:sp>
        <p:nvSpPr>
          <p:cNvPr id="56" name="Rectangle 55"/>
          <p:cNvSpPr/>
          <p:nvPr/>
        </p:nvSpPr>
        <p:spPr bwMode="auto">
          <a:xfrm>
            <a:off x="5785010" y="1620000"/>
            <a:ext cx="720148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IRQ</a:t>
            </a:r>
            <a:endParaRPr lang="en-GB" sz="2000" i="1" dirty="0"/>
          </a:p>
        </p:txBody>
      </p:sp>
      <p:sp>
        <p:nvSpPr>
          <p:cNvPr id="32" name="Rectangle 31"/>
          <p:cNvSpPr/>
          <p:nvPr/>
        </p:nvSpPr>
        <p:spPr bwMode="auto">
          <a:xfrm>
            <a:off x="3290366" y="1620000"/>
            <a:ext cx="2448271" cy="3960440"/>
          </a:xfrm>
          <a:prstGeom prst="rect">
            <a:avLst/>
          </a:prstGeom>
          <a:solidFill>
            <a:srgbClr val="F19D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i="1" dirty="0"/>
              <a:t>Scanner thread</a:t>
            </a:r>
            <a:endParaRPr lang="en-GB" sz="2000" i="1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146348" y="2124056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39802" y="2094149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Record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6" name="Rectangle 5"/>
          <p:cNvSpPr/>
          <p:nvPr/>
        </p:nvSpPr>
        <p:spPr bwMode="auto">
          <a:xfrm>
            <a:off x="3146348" y="3132168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39802" y="3094276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Device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3146348" y="4140280"/>
            <a:ext cx="6624736" cy="64807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28122" y="4110373"/>
            <a:ext cx="10182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/>
              <a:t>Driver</a:t>
            </a:r>
            <a:br>
              <a:rPr lang="en-US" sz="2000" dirty="0"/>
            </a:br>
            <a:r>
              <a:rPr lang="en-US" sz="2000" dirty="0"/>
              <a:t>Support</a:t>
            </a:r>
            <a:endParaRPr lang="en-GB" sz="2000" dirty="0"/>
          </a:p>
        </p:txBody>
      </p:sp>
      <p:sp>
        <p:nvSpPr>
          <p:cNvPr id="10" name="Rounded Rectangle 9"/>
          <p:cNvSpPr/>
          <p:nvPr/>
        </p:nvSpPr>
        <p:spPr bwMode="auto">
          <a:xfrm>
            <a:off x="3434380" y="2296092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3722412" y="3296220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4115633" y="4312312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80663" y="4969216"/>
            <a:ext cx="12993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IO Request</a:t>
            </a:r>
            <a:endParaRPr lang="en-GB" sz="2000" i="1" dirty="0"/>
          </a:p>
        </p:txBody>
      </p:sp>
      <p:sp>
        <p:nvSpPr>
          <p:cNvPr id="15" name="Rounded Rectangle 14"/>
          <p:cNvSpPr/>
          <p:nvPr/>
        </p:nvSpPr>
        <p:spPr bwMode="auto">
          <a:xfrm>
            <a:off x="8646659" y="3306014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8905425" y="2324614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18" name="Straight Arrow Connector 17"/>
          <p:cNvCxnSpPr>
            <a:stCxn id="10" idx="2"/>
            <a:endCxn id="11" idx="0"/>
          </p:cNvCxnSpPr>
          <p:nvPr/>
        </p:nvCxnSpPr>
        <p:spPr bwMode="auto">
          <a:xfrm>
            <a:off x="3722412" y="2600093"/>
            <a:ext cx="288032" cy="6961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11" idx="2"/>
            <a:endCxn id="12" idx="0"/>
          </p:cNvCxnSpPr>
          <p:nvPr/>
        </p:nvCxnSpPr>
        <p:spPr bwMode="auto">
          <a:xfrm>
            <a:off x="4010445" y="3600221"/>
            <a:ext cx="393221" cy="7120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43" idx="3"/>
            <a:endCxn id="15" idx="2"/>
          </p:cNvCxnSpPr>
          <p:nvPr/>
        </p:nvCxnSpPr>
        <p:spPr bwMode="auto">
          <a:xfrm flipV="1">
            <a:off x="8490805" y="3610014"/>
            <a:ext cx="443887" cy="8555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stCxn id="15" idx="0"/>
            <a:endCxn id="16" idx="2"/>
          </p:cNvCxnSpPr>
          <p:nvPr/>
        </p:nvCxnSpPr>
        <p:spPr bwMode="auto">
          <a:xfrm flipV="1">
            <a:off x="8934691" y="2628615"/>
            <a:ext cx="258766" cy="6773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" name="TextBox 32"/>
          <p:cNvSpPr txBox="1"/>
          <p:nvPr/>
        </p:nvSpPr>
        <p:spPr>
          <a:xfrm>
            <a:off x="3976561" y="2416999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PACT=0</a:t>
            </a:r>
            <a:endParaRPr lang="en-GB" sz="1400" dirty="0"/>
          </a:p>
        </p:txBody>
      </p:sp>
      <p:cxnSp>
        <p:nvCxnSpPr>
          <p:cNvPr id="36" name="Straight Arrow Connector 35"/>
          <p:cNvCxnSpPr>
            <a:stCxn id="12" idx="2"/>
            <a:endCxn id="13" idx="0"/>
          </p:cNvCxnSpPr>
          <p:nvPr/>
        </p:nvCxnSpPr>
        <p:spPr bwMode="auto">
          <a:xfrm>
            <a:off x="4403666" y="4616312"/>
            <a:ext cx="126695" cy="35290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Straight Arrow Connector 29"/>
          <p:cNvCxnSpPr/>
          <p:nvPr/>
        </p:nvCxnSpPr>
        <p:spPr bwMode="auto">
          <a:xfrm flipH="1" flipV="1">
            <a:off x="5360554" y="2296089"/>
            <a:ext cx="2" cy="28731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TextBox 36"/>
          <p:cNvSpPr txBox="1"/>
          <p:nvPr/>
        </p:nvSpPr>
        <p:spPr>
          <a:xfrm>
            <a:off x="4620609" y="3451357"/>
            <a:ext cx="1325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Leaving PACT=1</a:t>
            </a:r>
            <a:endParaRPr lang="en-GB" sz="1400" dirty="0"/>
          </a:p>
        </p:txBody>
      </p:sp>
      <p:sp>
        <p:nvSpPr>
          <p:cNvPr id="41" name="Rounded Rectangle 40"/>
          <p:cNvSpPr/>
          <p:nvPr/>
        </p:nvSpPr>
        <p:spPr bwMode="auto">
          <a:xfrm>
            <a:off x="6806383" y="2296090"/>
            <a:ext cx="576064" cy="304001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42" name="Rounded Rectangle 41"/>
          <p:cNvSpPr/>
          <p:nvPr/>
        </p:nvSpPr>
        <p:spPr bwMode="auto">
          <a:xfrm>
            <a:off x="7194120" y="3306451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sp>
        <p:nvSpPr>
          <p:cNvPr id="43" name="Rounded Rectangle 42"/>
          <p:cNvSpPr/>
          <p:nvPr/>
        </p:nvSpPr>
        <p:spPr bwMode="auto">
          <a:xfrm>
            <a:off x="7914740" y="4313540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44" name="Straight Arrow Connector 43"/>
          <p:cNvCxnSpPr>
            <a:stCxn id="41" idx="2"/>
            <a:endCxn id="42" idx="0"/>
          </p:cNvCxnSpPr>
          <p:nvPr/>
        </p:nvCxnSpPr>
        <p:spPr bwMode="auto">
          <a:xfrm>
            <a:off x="7094416" y="2600090"/>
            <a:ext cx="387737" cy="7063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Straight Arrow Connector 44"/>
          <p:cNvCxnSpPr>
            <a:stCxn id="42" idx="2"/>
            <a:endCxn id="43" idx="1"/>
          </p:cNvCxnSpPr>
          <p:nvPr/>
        </p:nvCxnSpPr>
        <p:spPr bwMode="auto">
          <a:xfrm>
            <a:off x="7482152" y="3610452"/>
            <a:ext cx="432588" cy="85508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" name="TextBox 45"/>
          <p:cNvSpPr txBox="1"/>
          <p:nvPr/>
        </p:nvSpPr>
        <p:spPr>
          <a:xfrm>
            <a:off x="7348564" y="2416972"/>
            <a:ext cx="7336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PACT=1</a:t>
            </a:r>
            <a:endParaRPr lang="en-GB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5313094" y="5658897"/>
            <a:ext cx="1446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IO Response</a:t>
            </a:r>
            <a:endParaRPr lang="en-GB" sz="2000" i="1" dirty="0"/>
          </a:p>
        </p:txBody>
      </p:sp>
      <p:sp>
        <p:nvSpPr>
          <p:cNvPr id="57" name="Rounded Rectangle 56"/>
          <p:cNvSpPr/>
          <p:nvPr/>
        </p:nvSpPr>
        <p:spPr bwMode="auto">
          <a:xfrm>
            <a:off x="5882652" y="4338381"/>
            <a:ext cx="576064" cy="304001"/>
          </a:xfrm>
          <a:prstGeom prst="roundRect">
            <a:avLst/>
          </a:prstGeom>
          <a:solidFill>
            <a:srgbClr val="00B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2400">
              <a:latin typeface="Century Gothic" pitchFamily="34" charset="0"/>
            </a:endParaRPr>
          </a:p>
        </p:txBody>
      </p:sp>
      <p:cxnSp>
        <p:nvCxnSpPr>
          <p:cNvPr id="60" name="Straight Arrow Connector 59"/>
          <p:cNvCxnSpPr>
            <a:stCxn id="57" idx="0"/>
          </p:cNvCxnSpPr>
          <p:nvPr/>
        </p:nvCxnSpPr>
        <p:spPr bwMode="auto">
          <a:xfrm flipV="1">
            <a:off x="6170684" y="2324614"/>
            <a:ext cx="334474" cy="201376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2" name="TextBox 61"/>
          <p:cNvSpPr txBox="1"/>
          <p:nvPr/>
        </p:nvSpPr>
        <p:spPr>
          <a:xfrm>
            <a:off x="5385945" y="3802163"/>
            <a:ext cx="15937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Request processing</a:t>
            </a:r>
            <a:endParaRPr lang="en-GB" sz="1400" dirty="0"/>
          </a:p>
        </p:txBody>
      </p:sp>
      <p:cxnSp>
        <p:nvCxnSpPr>
          <p:cNvPr id="83" name="Straight Arrow Connector 82"/>
          <p:cNvCxnSpPr>
            <a:stCxn id="49" idx="0"/>
          </p:cNvCxnSpPr>
          <p:nvPr/>
        </p:nvCxnSpPr>
        <p:spPr bwMode="auto">
          <a:xfrm flipV="1">
            <a:off x="6036370" y="4642381"/>
            <a:ext cx="108715" cy="10165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582674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Processing Caveats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Multi-threaded environment</a:t>
            </a:r>
          </a:p>
          <a:p>
            <a:pPr lvl="1"/>
            <a:r>
              <a:rPr lang="en-US" dirty="0"/>
              <a:t>Often processing/waiting is offloaded to separate threads</a:t>
            </a:r>
          </a:p>
          <a:p>
            <a:pPr lvl="1"/>
            <a:r>
              <a:rPr lang="en-US" dirty="0"/>
              <a:t>All access to shared data (record, buffers, queues) between threads must be properly guarded by semaphores</a:t>
            </a:r>
          </a:p>
          <a:p>
            <a:r>
              <a:rPr lang="en-US" dirty="0"/>
              <a:t>Record priorities</a:t>
            </a:r>
          </a:p>
          <a:p>
            <a:pPr lvl="1"/>
            <a:r>
              <a:rPr lang="en-US" dirty="0"/>
              <a:t>Three priority levels, configured in record instance</a:t>
            </a:r>
          </a:p>
          <a:p>
            <a:pPr lvl="1"/>
            <a:r>
              <a:rPr lang="en-US" dirty="0"/>
              <a:t>Device Support architecture should support this</a:t>
            </a:r>
          </a:p>
          <a:p>
            <a:pPr lvl="1"/>
            <a:r>
              <a:rPr lang="en-US" dirty="0"/>
              <a:t>Actually: most Device Supports don’t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6745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generated with high confidence">
            <a:extLst>
              <a:ext uri="{FF2B5EF4-FFF2-40B4-BE49-F238E27FC236}">
                <a16:creationId xmlns:a16="http://schemas.microsoft.com/office/drawing/2014/main" id="{081E4B5E-9F23-434D-8EF6-723C1D16D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492148" y="435454"/>
            <a:ext cx="6746511" cy="16141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3467" dirty="0">
                <a:solidFill>
                  <a:srgbClr val="C7DE27"/>
                </a:solidFill>
                <a:latin typeface="Oswald Regular"/>
                <a:ea typeface="Milo-Medium"/>
                <a:cs typeface="Oswald Regular"/>
              </a:rPr>
              <a:t>Thank You for Your Attention!</a:t>
            </a:r>
          </a:p>
          <a:p>
            <a:pPr>
              <a:lnSpc>
                <a:spcPct val="110000"/>
              </a:lnSpc>
            </a:pPr>
            <a:endParaRPr lang="de-DE" sz="3467" dirty="0">
              <a:solidFill>
                <a:srgbClr val="C7DE27"/>
              </a:solidFill>
              <a:latin typeface="Oswald Regular"/>
              <a:ea typeface="Milo-Medium"/>
              <a:cs typeface="Source Sans Pro"/>
            </a:endParaRPr>
          </a:p>
          <a:p>
            <a:pPr>
              <a:lnSpc>
                <a:spcPct val="110000"/>
              </a:lnSpc>
            </a:pPr>
            <a:r>
              <a:rPr lang="de-DE" sz="2800" dirty="0" err="1">
                <a:solidFill>
                  <a:srgbClr val="C7DE27"/>
                </a:solidFill>
                <a:latin typeface="Oswald Regular"/>
                <a:ea typeface="Milo-Medium"/>
                <a:cs typeface="Source Sans Pro"/>
              </a:rPr>
              <a:t>Credits</a:t>
            </a:r>
            <a:r>
              <a:rPr lang="de-DE" sz="2800" dirty="0">
                <a:solidFill>
                  <a:srgbClr val="C7DE27"/>
                </a:solidFill>
                <a:latin typeface="Oswald Regular"/>
                <a:ea typeface="Milo-Medium"/>
                <a:cs typeface="Source Sans Pro"/>
              </a:rPr>
              <a:t>:</a:t>
            </a:r>
          </a:p>
        </p:txBody>
      </p:sp>
      <p:pic>
        <p:nvPicPr>
          <p:cNvPr id="36" name="Grafik 8">
            <a:extLst>
              <a:ext uri="{FF2B5EF4-FFF2-40B4-BE49-F238E27FC236}">
                <a16:creationId xmlns:a16="http://schemas.microsoft.com/office/drawing/2014/main" id="{BBFCB516-DB00-4844-B0CC-5A420930EB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8" y="6139281"/>
            <a:ext cx="648829" cy="342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9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ICS presentation" id="{7AE69D57-5A9A-EC4B-B48D-17D8E9C4F91E}" vid="{891AE9FA-AA9F-8B45-A343-9F71569D2A0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18</TotalTime>
  <Words>955</Words>
  <Application>Microsoft Macintosh PowerPoint</Application>
  <PresentationFormat>Widescreen</PresentationFormat>
  <Paragraphs>189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Oswald Regular</vt:lpstr>
      <vt:lpstr>Source Sans Pro</vt:lpstr>
      <vt:lpstr>Century Gothic</vt:lpstr>
      <vt:lpstr>Calibri</vt:lpstr>
      <vt:lpstr>Oswald</vt:lpstr>
      <vt:lpstr>Arial</vt:lpstr>
      <vt:lpstr>Office</vt:lpstr>
      <vt:lpstr>PowerPoint Presentation</vt:lpstr>
      <vt:lpstr>The ASYN Framework</vt:lpstr>
      <vt:lpstr>ASYN Parts and Concepts</vt:lpstr>
      <vt:lpstr>ASYN Port Interfaces</vt:lpstr>
      <vt:lpstr>ASYN Processing: Synchronous</vt:lpstr>
      <vt:lpstr>Record Processing: Synchronous</vt:lpstr>
      <vt:lpstr>ASYN Processing: Asynchronous</vt:lpstr>
      <vt:lpstr>Record Processing: Asynchronous</vt:lpstr>
      <vt:lpstr>ASYN Advantages</vt:lpstr>
      <vt:lpstr>Tracing and Debugging</vt:lpstr>
      <vt:lpstr>asynPortDriver C++ Base Class</vt:lpstr>
      <vt:lpstr>Applications 1) Swapping a Driver</vt:lpstr>
      <vt:lpstr>Applications 2) Swapping a Protocol</vt:lpstr>
      <vt:lpstr>Applications 3) Adding a Checksum</vt:lpstr>
      <vt:lpstr>Conclusion</vt:lpstr>
      <vt:lpstr>EPICS Device Interface</vt:lpstr>
      <vt:lpstr>IOC Architecture</vt:lpstr>
      <vt:lpstr>Device and Driver Support APIs</vt:lpstr>
      <vt:lpstr>Classical Device/Driver Support</vt:lpstr>
      <vt:lpstr>Record Processing: Synchronous</vt:lpstr>
      <vt:lpstr>Record Processing: Asynchronous</vt:lpstr>
      <vt:lpstr>Asynchronous Processing Caveats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 Korhonen</dc:creator>
  <cp:lastModifiedBy>Timo Korhonen</cp:lastModifiedBy>
  <cp:revision>2</cp:revision>
  <dcterms:created xsi:type="dcterms:W3CDTF">2025-10-12T00:28:54Z</dcterms:created>
  <dcterms:modified xsi:type="dcterms:W3CDTF">2025-10-12T00:47:03Z</dcterms:modified>
</cp:coreProperties>
</file>
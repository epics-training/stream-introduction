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86" r:id="rId2"/>
    <p:sldId id="597" r:id="rId3"/>
    <p:sldId id="598" r:id="rId4"/>
    <p:sldId id="599" r:id="rId5"/>
    <p:sldId id="600" r:id="rId6"/>
    <p:sldId id="602" r:id="rId7"/>
    <p:sldId id="604" r:id="rId8"/>
    <p:sldId id="605" r:id="rId9"/>
    <p:sldId id="606" r:id="rId10"/>
    <p:sldId id="609" r:id="rId11"/>
    <p:sldId id="608" r:id="rId12"/>
    <p:sldId id="280" r:id="rId13"/>
  </p:sldIdLst>
  <p:sldSz cx="12192000" cy="6858000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Oswald" pitchFamily="2" charset="77"/>
      <p:regular r:id="rId24"/>
      <p:bold r:id="rId25"/>
    </p:embeddedFont>
    <p:embeddedFont>
      <p:font typeface="Oswald Regular" panose="02000503000000000000" pitchFamily="2" charset="77"/>
      <p:regular r:id="rId26"/>
    </p:embeddedFont>
    <p:embeddedFont>
      <p:font typeface="Source Sans Pro" panose="020B0503030403020204" pitchFamily="34" charset="0"/>
      <p:regular r:id="rId27"/>
      <p:bold r:id="rId28"/>
      <p:italic r:id="rId29"/>
      <p:boldItalic r:id="rId3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0CF"/>
    <a:srgbClr val="A91D37"/>
    <a:srgbClr val="000000"/>
    <a:srgbClr val="EFB531"/>
    <a:srgbClr val="0033C3"/>
    <a:srgbClr val="D3D3D3"/>
    <a:srgbClr val="B8B8B8"/>
    <a:srgbClr val="115593"/>
    <a:srgbClr val="156BB8"/>
    <a:srgbClr val="02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85" autoAdjust="0"/>
    <p:restoredTop sz="95652" autoAdjust="0"/>
  </p:normalViewPr>
  <p:slideViewPr>
    <p:cSldViewPr snapToGrid="0">
      <p:cViewPr varScale="1">
        <p:scale>
          <a:sx n="102" d="100"/>
          <a:sy n="102" d="100"/>
        </p:scale>
        <p:origin x="624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1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9.xml"/><Relationship Id="rId3" Type="http://schemas.openxmlformats.org/officeDocument/2006/relationships/slide" Target="slides/slide4.xml"/><Relationship Id="rId7" Type="http://schemas.openxmlformats.org/officeDocument/2006/relationships/slide" Target="slides/slide8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6" Type="http://schemas.openxmlformats.org/officeDocument/2006/relationships/slide" Target="slides/slide7.xml"/><Relationship Id="rId5" Type="http://schemas.openxmlformats.org/officeDocument/2006/relationships/slide" Target="slides/slide6.xml"/><Relationship Id="rId10" Type="http://schemas.openxmlformats.org/officeDocument/2006/relationships/slide" Target="slides/slide11.xml"/><Relationship Id="rId4" Type="http://schemas.openxmlformats.org/officeDocument/2006/relationships/slide" Target="slides/slide5.xml"/><Relationship Id="rId9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5E76C91-9915-4458-B23D-3EA6540160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FB7AE3-DFD2-49AA-A887-7324B1F10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E58FE-3AE1-4995-80E6-8AF0F1DA0E4E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C00001-5093-43F7-BD9F-EF265DE522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53EC2C-99A1-4C15-A25C-1C6F2B3A89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47158-EF9E-49A5-B018-E307E4952F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5321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91381-FB9B-4B1C-99E3-890DFD4525D3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9B650-A7F0-464D-8688-D88779A13E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5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AA5189-E3C0-5541-BCD2-55708D4D52CC}" type="slidenum">
              <a:rPr lang="de-DE"/>
              <a:pPr/>
              <a:t>12</a:t>
            </a:fld>
            <a:endParaRPr lang="de-DE" dirty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3178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03146D-F9CD-4667-9733-915975835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83CE06-6889-4F07-9BDB-F60D87A01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369807-43E9-4E6F-A3E0-5D77B68F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A6AF13-49B3-4FE9-B94D-0CD8BBAE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B81F20-5618-4C2C-B875-915115B7E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723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80AC99-2076-43D9-B787-7562050B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3EEA89-F850-4F9A-AF61-50796D810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59DD63-82FB-45C4-9C46-A46D9D89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2F4776-D99C-4135-B29D-B7D98867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F7797C-8BB4-442E-8DDB-97B3C1E1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15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F8B62F-7BA0-465D-BEBF-182FFE6C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115AEB-4E22-4AC3-A18A-016278299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BD60CA-7E10-4594-A689-D06550C9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C4FC93-C90F-4DC1-81C0-083990C3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77A670-2D23-47BD-B759-B5E5CF52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813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23B35-854E-4696-8A87-7E7B728A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645F74-BD8D-4E4E-BDB9-D02A44EEA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61FF99-02E9-4119-919B-E4B5BEC23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927D07-FAB5-4FEF-91B2-B2533B9FDA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283F85-213C-4B7A-9B9D-F8AD8A92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23057A-E691-4F8C-9DE9-72DBAB7E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665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BEA62-38E6-4B5F-AD25-C14259874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12F239-6267-4445-88DA-C6FA8FDAF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8EFE8D-222A-401D-9C0F-BC9592B99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52B5365-1527-4EE6-B7A0-96E721040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DA62BEE-9E9A-4648-BE58-51CCA2250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1F725D7-3A71-4698-AD5D-05CA4956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F205A89-55DB-4AA1-9811-6CB6C253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8FAFAE-4685-4696-8BE6-A9FF1C1E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213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BCFD02-FCDE-4CDE-BBD9-303E9235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E4FC69-EEA5-4B6F-9EDC-3FE3A444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CD84CD-7858-4431-B124-3BC3FE4B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3F721B-6992-4CBE-92C7-8C16E477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870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63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47622E-6FA0-48E8-841D-5199DDA5B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C957F8-4344-4A7D-9FA7-6EBAC93AB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139DC7-5A2B-438D-B985-4A4B096EF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CE11AD-5C9B-4155-94F7-DAA73F19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BA642A-8B77-4D6B-92C3-91DD0380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82536F-7F1A-47B5-96F6-7CCF0B54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525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3AF85-EB0C-4B9D-A332-DFE9B7A53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D11919E-478C-47FE-A050-93C6355CE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C08F94-D57A-4C09-81F4-00E41C9F9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0857B2-BC24-4673-8C75-6C4D5949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CFE2D3-1321-4B02-A5E1-2F614517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0553D3-324D-4DAF-814A-4A7C55D8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83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5F8505-DC85-4124-B03D-74FED555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CD297E-272F-4873-A2EA-99254EB5A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079D37-5C54-4648-BC05-D93512E0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FC2188-E367-4F3B-B212-CBD08385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B827D5-7942-4DB0-866C-DFD78B5C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99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50A8C9-E3BB-4DA1-AF29-8CB58BAE5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998828-6246-499E-8416-8FA63C50D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A716FF-32E2-417F-8FB2-3B742982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15.10.25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976C2B-432E-40FA-BD82-526215F8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8DD793-DB9D-48DE-BE05-FB76A115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1109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E3195E9B-F05D-4615-B542-936C8762006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04955" y="6123708"/>
            <a:ext cx="656278" cy="34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13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aulscherrerinstitute.github.io/StreamDevic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B200AE4-4BB0-45E2-BF76-953BC07FE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D84EAC81-8748-45A9-9E48-D8B6C99A5DB4}"/>
              </a:ext>
            </a:extLst>
          </p:cNvPr>
          <p:cNvSpPr txBox="1"/>
          <p:nvPr/>
        </p:nvSpPr>
        <p:spPr>
          <a:xfrm>
            <a:off x="5856799" y="4597651"/>
            <a:ext cx="5558712" cy="1451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eaLnBrk="0" hangingPunct="0"/>
            <a:r>
              <a:rPr lang="de-DE" sz="4400" spc="30" dirty="0" err="1">
                <a:solidFill>
                  <a:srgbClr val="C7DE37"/>
                </a:solidFill>
                <a:latin typeface="Oswald Regular"/>
                <a:cs typeface="Oswald Regular"/>
              </a:rPr>
              <a:t>StreamDevice</a:t>
            </a:r>
            <a:endParaRPr lang="de-DE" sz="4400" spc="30" dirty="0">
              <a:solidFill>
                <a:srgbClr val="C7DE37"/>
              </a:solidFill>
              <a:latin typeface="Oswald Regular"/>
              <a:cs typeface="Oswald Regular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0B20AEB-16DA-447D-918E-30BDB777D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617" y="1513153"/>
            <a:ext cx="1865076" cy="98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28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0902" y="940419"/>
            <a:ext cx="10021387" cy="5017327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EPICS module used to define string-based communication protocols between EPICS records and devices with a serial interface (serial port, Ethernet)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E.g.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Message sent: “V?”; Message received: “V=2.1”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Simple configuration, no programming required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Based on plain text protocol files, easy to understand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Uses ASYN driver to handle the low-level communication: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Thread handling, Proper resource locking, Queueing (by priority)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All documentation:</a:t>
            </a:r>
            <a:b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hlinkClick r:id="rId2"/>
              </a:rPr>
              <a:t>https://paulscherrerinstitute.github.io/StreamDevice/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671" y="318274"/>
            <a:ext cx="8001840" cy="914400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What is </a:t>
            </a:r>
            <a:r>
              <a:rPr lang="en-US" sz="3200" dirty="0" err="1">
                <a:latin typeface="Oswald" pitchFamily="2" charset="77"/>
              </a:rPr>
              <a:t>StreamDevice</a:t>
            </a:r>
            <a:r>
              <a:rPr lang="en-US" sz="3200" dirty="0">
                <a:latin typeface="Oswald" pitchFamily="2" charset="7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12961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710" y="940419"/>
            <a:ext cx="6815634" cy="5017327"/>
          </a:xfrm>
        </p:spPr>
        <p:txBody>
          <a:bodyPr/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Protocol file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includes a set of protocols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protocol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set of “instructions” how to make a particular data exchange with a particular device</a:t>
            </a:r>
          </a:p>
          <a:p>
            <a:pPr marL="0" indent="0">
              <a:buNone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Records use protocols to configure how they function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Records communicate with HW device by exchanging the messages described in their assigned protocol via an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AsynPort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Driver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459" y="200522"/>
            <a:ext cx="9573855" cy="699732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Architecture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C7874CC-B8D0-A41C-8C31-04BCF6A9A515}"/>
              </a:ext>
            </a:extLst>
          </p:cNvPr>
          <p:cNvGrpSpPr/>
          <p:nvPr/>
        </p:nvGrpSpPr>
        <p:grpSpPr>
          <a:xfrm>
            <a:off x="1010178" y="2133272"/>
            <a:ext cx="3063057" cy="2923875"/>
            <a:chOff x="1010178" y="2133272"/>
            <a:chExt cx="3063057" cy="2923875"/>
          </a:xfrm>
        </p:grpSpPr>
        <p:sp>
          <p:nvSpPr>
            <p:cNvPr id="32" name="TextBox 31"/>
            <p:cNvSpPr txBox="1"/>
            <p:nvPr/>
          </p:nvSpPr>
          <p:spPr>
            <a:xfrm>
              <a:off x="1010178" y="2133272"/>
              <a:ext cx="3063057" cy="21026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33" b="1" dirty="0"/>
                <a:t>IOC</a:t>
              </a:r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48432" y="2490882"/>
              <a:ext cx="1404003" cy="59490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/>
                <a:t>Protocol file</a:t>
              </a:r>
              <a:br>
                <a:rPr lang="en-US" sz="1633" b="1" dirty="0"/>
              </a:br>
              <a:r>
                <a:rPr lang="en-US" sz="1633" b="1" dirty="0"/>
                <a:t>(*.proto)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823315" y="2490882"/>
              <a:ext cx="1111665" cy="59490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/>
                <a:t>EPICS record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16700" y="3399188"/>
              <a:ext cx="1124893" cy="59490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 err="1"/>
                <a:t>AsynPort</a:t>
              </a:r>
              <a:endParaRPr lang="en-US" sz="1633" b="1" dirty="0"/>
            </a:p>
            <a:p>
              <a:pPr algn="ctr"/>
              <a:r>
                <a:rPr lang="en-US" sz="1633" b="1" dirty="0"/>
                <a:t>Driver</a:t>
              </a: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2831823" y="4457943"/>
              <a:ext cx="1103156" cy="599204"/>
            </a:xfrm>
            <a:prstGeom prst="rect">
              <a:avLst/>
            </a:prstGeom>
            <a:solidFill>
              <a:srgbClr val="FF99FF"/>
            </a:solidFill>
            <a:ln w="28575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/>
              <a:r>
                <a:rPr lang="en-US" sz="1633" b="1" dirty="0">
                  <a:solidFill>
                    <a:schemeClr val="bg1">
                      <a:lumMod val="50000"/>
                    </a:schemeClr>
                  </a:solidFill>
                </a:rPr>
                <a:t>Device</a:t>
              </a:r>
              <a:endParaRPr lang="en-GB" sz="1633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1" name="Up-Down Arrow 30"/>
            <p:cNvSpPr/>
            <p:nvPr/>
          </p:nvSpPr>
          <p:spPr bwMode="auto">
            <a:xfrm>
              <a:off x="3299316" y="3067099"/>
              <a:ext cx="151773" cy="332089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  <p:sp>
          <p:nvSpPr>
            <p:cNvPr id="33" name="Up-Down Arrow 30"/>
            <p:cNvSpPr/>
            <p:nvPr/>
          </p:nvSpPr>
          <p:spPr bwMode="auto">
            <a:xfrm>
              <a:off x="3293584" y="3985527"/>
              <a:ext cx="157505" cy="472415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  <p:sp>
          <p:nvSpPr>
            <p:cNvPr id="34" name="Up-Down Arrow 30"/>
            <p:cNvSpPr/>
            <p:nvPr/>
          </p:nvSpPr>
          <p:spPr bwMode="auto">
            <a:xfrm rot="5400000">
              <a:off x="2609173" y="2618008"/>
              <a:ext cx="151773" cy="332089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0263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710" y="940419"/>
            <a:ext cx="6617384" cy="5017327"/>
          </a:xfrm>
        </p:spPr>
        <p:txBody>
          <a:bodyPr/>
          <a:lstStyle/>
          <a:p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AsynPort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initialized in IOC start file:</a:t>
            </a:r>
            <a:b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33" dirty="0">
                <a:latin typeface="Source Sans Pro" panose="020B0503030403020204" pitchFamily="34" charset="0"/>
                <a:ea typeface="Source Sans Pro" panose="020B0503030403020204" pitchFamily="34" charset="0"/>
              </a:rPr>
              <a:t>epics/</a:t>
            </a:r>
            <a:r>
              <a:rPr lang="en-US" sz="1633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iocBoot</a:t>
            </a:r>
            <a:r>
              <a:rPr lang="en-US" sz="1633" dirty="0">
                <a:latin typeface="Source Sans Pro" panose="020B0503030403020204" pitchFamily="34" charset="0"/>
                <a:ea typeface="Source Sans Pro" panose="020B0503030403020204" pitchFamily="34" charset="0"/>
              </a:rPr>
              <a:t>/&lt;</a:t>
            </a:r>
            <a:r>
              <a:rPr lang="en-US" sz="1633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ioc</a:t>
            </a:r>
            <a:r>
              <a:rPr lang="en-US" sz="1633" dirty="0">
                <a:latin typeface="Source Sans Pro" panose="020B0503030403020204" pitchFamily="34" charset="0"/>
                <a:ea typeface="Source Sans Pro" panose="020B0503030403020204" pitchFamily="34" charset="0"/>
              </a:rPr>
              <a:t>&gt;/userPreDriverConf.cmd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IP connection:</a:t>
            </a:r>
            <a:b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33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drvAsynIPPortConfigure</a:t>
            </a:r>
            <a:r>
              <a:rPr lang="en-US" sz="1633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("DEV1", "192.168.1.212:8080")</a:t>
            </a:r>
            <a:br>
              <a:rPr lang="en-US" sz="1633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33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Creates a connection called "DEV1" with a network device reachable at 192.168.1.212 over port 8080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Serial connection:</a:t>
            </a:r>
            <a:b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33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drvAsynSerialPortConfigure</a:t>
            </a:r>
            <a:r>
              <a:rPr lang="en-US" sz="1633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("DEV2", "/dev/ttyS1")</a:t>
            </a:r>
            <a:br>
              <a:rPr lang="en-US" sz="1633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33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Creates a connection called "DEV2" with a serial device connected to /dev/ttyS1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Optional ASYN parameters (line terminators, serial communication parameters…) may be specified with other commands</a:t>
            </a:r>
            <a:endParaRPr lang="en-US" sz="1633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671" y="318274"/>
            <a:ext cx="8001840" cy="914400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ASYN Port Driver Configuration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1035111" y="4329309"/>
            <a:ext cx="3816599" cy="198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>
            <a:lvl1pPr marL="316668" indent="-316668" algn="l" defTabSz="876519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4529" indent="-307919" algn="l" defTabSz="876519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252669" indent="-208197" algn="l" defTabSz="876519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65560" indent="-202947" algn="l" defTabSz="876519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78453" indent="-202947" algn="l" defTabSz="876519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82319" indent="-202947" algn="l" defTabSz="876519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086186" indent="-202947" algn="l" defTabSz="876519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590053" indent="-202947" algn="l" defTabSz="876519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093920" indent="-202947" algn="l" defTabSz="876519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debugging, the ASYN trace mask can be used to output to shell exactly what is being transmitted:</a:t>
            </a:r>
            <a:br>
              <a:rPr lang="en-US" sz="1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asynSetTraceMask</a:t>
            </a:r>
            <a:r>
              <a:rPr lang="en-US" sz="1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("DEV1",-1,0x9);</a:t>
            </a:r>
            <a:br>
              <a:rPr lang="en-US" sz="1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asynSetTraceIOMask</a:t>
            </a:r>
            <a:r>
              <a:rPr lang="en-US" sz="1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("DEV1",-1,0x2)</a:t>
            </a:r>
          </a:p>
          <a:p>
            <a:r>
              <a:rPr lang="en-US" sz="1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Check </a:t>
            </a:r>
            <a:r>
              <a:rPr lang="en-US" sz="16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asynDriver.h</a:t>
            </a:r>
            <a:r>
              <a:rPr lang="en-US" sz="1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 details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0A61A99-D4BE-450E-0570-3D48A400EC09}"/>
              </a:ext>
            </a:extLst>
          </p:cNvPr>
          <p:cNvGrpSpPr/>
          <p:nvPr/>
        </p:nvGrpSpPr>
        <p:grpSpPr>
          <a:xfrm>
            <a:off x="1476448" y="1232674"/>
            <a:ext cx="3063057" cy="2923875"/>
            <a:chOff x="1010178" y="2133272"/>
            <a:chExt cx="3063057" cy="292387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64F04D-123F-08F7-1BEE-F6ADCE757168}"/>
                </a:ext>
              </a:extLst>
            </p:cNvPr>
            <p:cNvSpPr txBox="1"/>
            <p:nvPr/>
          </p:nvSpPr>
          <p:spPr>
            <a:xfrm>
              <a:off x="1010178" y="2133272"/>
              <a:ext cx="3063057" cy="21026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33" b="1" dirty="0"/>
                <a:t>IOC</a:t>
              </a:r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A6E052-43DD-5760-BA1D-C30E4B6400E0}"/>
                </a:ext>
              </a:extLst>
            </p:cNvPr>
            <p:cNvSpPr txBox="1"/>
            <p:nvPr/>
          </p:nvSpPr>
          <p:spPr>
            <a:xfrm>
              <a:off x="1148432" y="2490882"/>
              <a:ext cx="1404003" cy="59490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/>
                <a:t>Protocol file</a:t>
              </a:r>
              <a:br>
                <a:rPr lang="en-US" sz="1633" b="1" dirty="0"/>
              </a:br>
              <a:r>
                <a:rPr lang="en-US" sz="1633" b="1" dirty="0"/>
                <a:t>(*.proto)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16FE7D-3AA7-3834-F67C-06B2F9621678}"/>
                </a:ext>
              </a:extLst>
            </p:cNvPr>
            <p:cNvSpPr txBox="1"/>
            <p:nvPr/>
          </p:nvSpPr>
          <p:spPr>
            <a:xfrm>
              <a:off x="2823315" y="2490882"/>
              <a:ext cx="1111665" cy="59490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/>
                <a:t>EPICS record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5B84E5-D972-13F5-6933-67B65D16A3FA}"/>
                </a:ext>
              </a:extLst>
            </p:cNvPr>
            <p:cNvSpPr txBox="1"/>
            <p:nvPr/>
          </p:nvSpPr>
          <p:spPr>
            <a:xfrm>
              <a:off x="2816700" y="3399188"/>
              <a:ext cx="1124893" cy="59490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 err="1"/>
                <a:t>AsynPort</a:t>
              </a:r>
              <a:endParaRPr lang="en-US" sz="1633" b="1" dirty="0"/>
            </a:p>
            <a:p>
              <a:pPr algn="ctr"/>
              <a:r>
                <a:rPr lang="en-US" sz="1633" b="1" dirty="0"/>
                <a:t>Driver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260500F-C11A-FB69-2A46-FA5152C72B0B}"/>
                </a:ext>
              </a:extLst>
            </p:cNvPr>
            <p:cNvSpPr/>
            <p:nvPr/>
          </p:nvSpPr>
          <p:spPr bwMode="auto">
            <a:xfrm>
              <a:off x="2831823" y="4457943"/>
              <a:ext cx="1103156" cy="599204"/>
            </a:xfrm>
            <a:prstGeom prst="rect">
              <a:avLst/>
            </a:prstGeom>
            <a:solidFill>
              <a:srgbClr val="FF99FF"/>
            </a:solidFill>
            <a:ln w="28575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/>
              <a:r>
                <a:rPr lang="en-US" sz="1633" b="1" dirty="0">
                  <a:solidFill>
                    <a:schemeClr val="bg1">
                      <a:lumMod val="50000"/>
                    </a:schemeClr>
                  </a:solidFill>
                </a:rPr>
                <a:t>Device</a:t>
              </a:r>
              <a:endParaRPr lang="en-GB" sz="1633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Up-Down Arrow 30">
              <a:extLst>
                <a:ext uri="{FF2B5EF4-FFF2-40B4-BE49-F238E27FC236}">
                  <a16:creationId xmlns:a16="http://schemas.microsoft.com/office/drawing/2014/main" id="{BEB78091-C6CA-8219-7407-C65C386EC62E}"/>
                </a:ext>
              </a:extLst>
            </p:cNvPr>
            <p:cNvSpPr/>
            <p:nvPr/>
          </p:nvSpPr>
          <p:spPr bwMode="auto">
            <a:xfrm>
              <a:off x="3299316" y="3067099"/>
              <a:ext cx="151773" cy="332089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  <p:sp>
          <p:nvSpPr>
            <p:cNvPr id="12" name="Up-Down Arrow 30">
              <a:extLst>
                <a:ext uri="{FF2B5EF4-FFF2-40B4-BE49-F238E27FC236}">
                  <a16:creationId xmlns:a16="http://schemas.microsoft.com/office/drawing/2014/main" id="{62721A22-933A-1454-0317-2BFD98328BAB}"/>
                </a:ext>
              </a:extLst>
            </p:cNvPr>
            <p:cNvSpPr/>
            <p:nvPr/>
          </p:nvSpPr>
          <p:spPr bwMode="auto">
            <a:xfrm>
              <a:off x="3293584" y="3985527"/>
              <a:ext cx="157505" cy="472415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  <p:sp>
          <p:nvSpPr>
            <p:cNvPr id="13" name="Up-Down Arrow 30">
              <a:extLst>
                <a:ext uri="{FF2B5EF4-FFF2-40B4-BE49-F238E27FC236}">
                  <a16:creationId xmlns:a16="http://schemas.microsoft.com/office/drawing/2014/main" id="{1D71229D-693A-8DCB-476D-2615886E0451}"/>
                </a:ext>
              </a:extLst>
            </p:cNvPr>
            <p:cNvSpPr/>
            <p:nvPr/>
          </p:nvSpPr>
          <p:spPr bwMode="auto">
            <a:xfrm rot="5400000">
              <a:off x="2609173" y="2618008"/>
              <a:ext cx="151773" cy="332089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7858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65" y="1108611"/>
            <a:ext cx="6510834" cy="5017327"/>
          </a:xfrm>
        </p:spPr>
        <p:txBody>
          <a:bodyPr/>
          <a:lstStyle/>
          <a:p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Two fields are used to tell a record to use Stream Device</a:t>
            </a:r>
          </a:p>
          <a:p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Device Type (DTYP):</a:t>
            </a:r>
            <a:b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452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field (DTYP, "stream")</a:t>
            </a:r>
            <a:endParaRPr lang="en-US" sz="2177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Either Input (INP) or Output (OUT):</a:t>
            </a:r>
            <a:b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452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field (INP, "@</a:t>
            </a:r>
            <a:r>
              <a:rPr lang="en-US" sz="1452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protoFile.proto</a:t>
            </a:r>
            <a:r>
              <a:rPr lang="en-US" sz="1452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452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getFrequency</a:t>
            </a:r>
            <a:r>
              <a:rPr lang="en-US" sz="1452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DEV1")</a:t>
            </a:r>
            <a:br>
              <a:rPr lang="en-US" sz="1452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452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field (OUT, "@</a:t>
            </a:r>
            <a:r>
              <a:rPr lang="en-US" sz="1452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protoFile.proto</a:t>
            </a:r>
            <a:r>
              <a:rPr lang="en-US" sz="1452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452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setFrequency</a:t>
            </a:r>
            <a:r>
              <a:rPr lang="en-US" sz="1452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DEV1")</a:t>
            </a:r>
            <a:endParaRPr lang="en-US" sz="1814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First example tells input record to acquire its value using protocol </a:t>
            </a:r>
            <a:r>
              <a:rPr lang="en-US" sz="2177" i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getFrequency</a:t>
            </a:r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specified in the file </a:t>
            </a:r>
            <a:r>
              <a:rPr lang="en-US" sz="2177" i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protoFile.proto</a:t>
            </a:r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from device connection </a:t>
            </a:r>
            <a:r>
              <a:rPr lang="en-US" sz="2177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DEV1</a:t>
            </a:r>
          </a:p>
          <a:p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Second example tells output record to send its value using protocol </a:t>
            </a:r>
            <a:r>
              <a:rPr lang="en-US" sz="2177" i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setFrequency</a:t>
            </a:r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specified in the file </a:t>
            </a:r>
            <a:r>
              <a:rPr lang="en-US" sz="2177" i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protoFile.proto</a:t>
            </a:r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to device connection </a:t>
            </a:r>
            <a:r>
              <a:rPr lang="en-US" sz="2177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DEV1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671" y="318274"/>
            <a:ext cx="8001840" cy="575748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Record Configuration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829457" y="4138916"/>
            <a:ext cx="4160508" cy="2079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>
            <a:lvl1pPr marL="316668" indent="-316668" algn="l" defTabSz="876519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4529" indent="-307919" algn="l" defTabSz="876519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1252669" indent="-208197" algn="l" defTabSz="876519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65560" indent="-202947" algn="l" defTabSz="876519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78453" indent="-202947" algn="l" defTabSz="876519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82319" indent="-202947" algn="l" defTabSz="876519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086186" indent="-202947" algn="l" defTabSz="876519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590053" indent="-202947" algn="l" defTabSz="876519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093920" indent="-202947" algn="l" defTabSz="876519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163296" indent="-163296"/>
            <a:r>
              <a:rPr lang="en-US" sz="1633" kern="0" dirty="0"/>
              <a:t>Record types that may use StreamDevice out of the box:</a:t>
            </a:r>
            <a:br>
              <a:rPr lang="en-US" sz="1633" kern="0" dirty="0"/>
            </a:br>
            <a:r>
              <a:rPr lang="en-US" sz="1633" i="1" kern="0" dirty="0"/>
              <a:t>ai, </a:t>
            </a:r>
            <a:r>
              <a:rPr lang="en-US" sz="1633" i="1" kern="0" dirty="0" err="1"/>
              <a:t>ao</a:t>
            </a:r>
            <a:r>
              <a:rPr lang="en-US" sz="1633" i="1" kern="0" dirty="0"/>
              <a:t>, bi, </a:t>
            </a:r>
            <a:r>
              <a:rPr lang="en-US" sz="1633" i="1" kern="0" dirty="0" err="1"/>
              <a:t>bo</a:t>
            </a:r>
            <a:r>
              <a:rPr lang="en-US" sz="1633" i="1" kern="0" dirty="0"/>
              <a:t>, </a:t>
            </a:r>
            <a:r>
              <a:rPr lang="en-US" sz="1633" i="1" kern="0" dirty="0" err="1"/>
              <a:t>mbbi</a:t>
            </a:r>
            <a:r>
              <a:rPr lang="en-US" sz="1633" i="1" kern="0" dirty="0"/>
              <a:t>, </a:t>
            </a:r>
            <a:r>
              <a:rPr lang="en-US" sz="1633" i="1" kern="0" dirty="0" err="1"/>
              <a:t>mbbo</a:t>
            </a:r>
            <a:r>
              <a:rPr lang="en-US" sz="1633" i="1" kern="0" dirty="0"/>
              <a:t>, </a:t>
            </a:r>
            <a:r>
              <a:rPr lang="en-US" sz="1633" i="1" kern="0" dirty="0" err="1"/>
              <a:t>mbbiDirect</a:t>
            </a:r>
            <a:r>
              <a:rPr lang="en-US" sz="1633" i="1" kern="0" dirty="0"/>
              <a:t>, </a:t>
            </a:r>
            <a:r>
              <a:rPr lang="en-US" sz="1633" i="1" kern="0" dirty="0" err="1"/>
              <a:t>mbboDirect</a:t>
            </a:r>
            <a:r>
              <a:rPr lang="en-US" sz="1633" i="1" kern="0" dirty="0"/>
              <a:t>, </a:t>
            </a:r>
            <a:r>
              <a:rPr lang="en-US" sz="1633" i="1" kern="0" dirty="0" err="1"/>
              <a:t>longin</a:t>
            </a:r>
            <a:r>
              <a:rPr lang="en-US" sz="1633" i="1" kern="0" dirty="0"/>
              <a:t>, </a:t>
            </a:r>
            <a:r>
              <a:rPr lang="en-US" sz="1633" i="1" kern="0" dirty="0" err="1"/>
              <a:t>longout</a:t>
            </a:r>
            <a:r>
              <a:rPr lang="en-US" sz="1633" i="1" kern="0" dirty="0"/>
              <a:t>, int64in, int64out, </a:t>
            </a:r>
            <a:r>
              <a:rPr lang="en-US" sz="1633" i="1" kern="0" dirty="0" err="1"/>
              <a:t>lsi</a:t>
            </a:r>
            <a:r>
              <a:rPr lang="en-US" sz="1633" i="1" kern="0" dirty="0"/>
              <a:t>, </a:t>
            </a:r>
            <a:r>
              <a:rPr lang="en-US" sz="1633" i="1" kern="0" dirty="0" err="1"/>
              <a:t>lso</a:t>
            </a:r>
            <a:r>
              <a:rPr lang="en-US" sz="1633" i="1" kern="0" dirty="0"/>
              <a:t>, </a:t>
            </a:r>
            <a:r>
              <a:rPr lang="en-US" sz="1633" i="1" kern="0" dirty="0" err="1"/>
              <a:t>stringin</a:t>
            </a:r>
            <a:r>
              <a:rPr lang="en-US" sz="1633" i="1" kern="0" dirty="0"/>
              <a:t>, </a:t>
            </a:r>
            <a:r>
              <a:rPr lang="en-US" sz="1633" i="1" kern="0" dirty="0" err="1"/>
              <a:t>stringout</a:t>
            </a:r>
            <a:r>
              <a:rPr lang="en-US" sz="1633" i="1" kern="0" dirty="0"/>
              <a:t>, </a:t>
            </a:r>
            <a:r>
              <a:rPr lang="en-US" sz="1633" i="1" kern="0" dirty="0" err="1"/>
              <a:t>aai</a:t>
            </a:r>
            <a:r>
              <a:rPr lang="en-US" sz="1633" i="1" kern="0" dirty="0"/>
              <a:t>, </a:t>
            </a:r>
            <a:r>
              <a:rPr lang="en-US" sz="1633" i="1" kern="0" dirty="0" err="1"/>
              <a:t>aao</a:t>
            </a:r>
            <a:r>
              <a:rPr lang="en-US" sz="1633" i="1" kern="0" dirty="0"/>
              <a:t>, waveform, </a:t>
            </a:r>
            <a:r>
              <a:rPr lang="en-US" sz="1633" i="1" kern="0" dirty="0" err="1"/>
              <a:t>calcout</a:t>
            </a:r>
            <a:r>
              <a:rPr lang="en-US" sz="1633" i="1" kern="0" dirty="0"/>
              <a:t>, </a:t>
            </a:r>
            <a:r>
              <a:rPr lang="en-US" sz="1633" i="1" kern="0" dirty="0" err="1"/>
              <a:t>scalcout</a:t>
            </a:r>
            <a:endParaRPr lang="en-US" sz="1633" i="1" kern="0" dirty="0"/>
          </a:p>
          <a:p>
            <a:pPr marL="163296" indent="-163296"/>
            <a:r>
              <a:rPr lang="en-US" sz="1633" kern="0" dirty="0"/>
              <a:t>Others require additional support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2BCB2CA-0F1B-CF12-3042-955AE1FAF54A}"/>
              </a:ext>
            </a:extLst>
          </p:cNvPr>
          <p:cNvGrpSpPr/>
          <p:nvPr/>
        </p:nvGrpSpPr>
        <p:grpSpPr>
          <a:xfrm>
            <a:off x="1252954" y="1067956"/>
            <a:ext cx="3063057" cy="2923875"/>
            <a:chOff x="1010178" y="2133272"/>
            <a:chExt cx="3063057" cy="292387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515EDA-5234-AA96-41BD-09F1185E9B35}"/>
                </a:ext>
              </a:extLst>
            </p:cNvPr>
            <p:cNvSpPr txBox="1"/>
            <p:nvPr/>
          </p:nvSpPr>
          <p:spPr>
            <a:xfrm>
              <a:off x="1010178" y="2133272"/>
              <a:ext cx="3063057" cy="21026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33" b="1" dirty="0"/>
                <a:t>IOC</a:t>
              </a:r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70280F-D696-308D-5FFC-43E0436CB6B3}"/>
                </a:ext>
              </a:extLst>
            </p:cNvPr>
            <p:cNvSpPr txBox="1"/>
            <p:nvPr/>
          </p:nvSpPr>
          <p:spPr>
            <a:xfrm>
              <a:off x="1148432" y="2490882"/>
              <a:ext cx="1404003" cy="59490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/>
                <a:t>Protocol file</a:t>
              </a:r>
              <a:br>
                <a:rPr lang="en-US" sz="1633" b="1" dirty="0"/>
              </a:br>
              <a:r>
                <a:rPr lang="en-US" sz="1633" b="1" dirty="0"/>
                <a:t>(*.proto)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4C4F82-2506-3CA9-960F-1F487E804DE0}"/>
                </a:ext>
              </a:extLst>
            </p:cNvPr>
            <p:cNvSpPr txBox="1"/>
            <p:nvPr/>
          </p:nvSpPr>
          <p:spPr>
            <a:xfrm>
              <a:off x="2823315" y="2490882"/>
              <a:ext cx="1111665" cy="59490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/>
                <a:t>EPICS record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2594D44-9222-2071-4D2F-6E7A13AC5B62}"/>
                </a:ext>
              </a:extLst>
            </p:cNvPr>
            <p:cNvSpPr txBox="1"/>
            <p:nvPr/>
          </p:nvSpPr>
          <p:spPr>
            <a:xfrm>
              <a:off x="2816700" y="3399188"/>
              <a:ext cx="1124893" cy="59490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 err="1"/>
                <a:t>AsynPort</a:t>
              </a:r>
              <a:endParaRPr lang="en-US" sz="1633" b="1" dirty="0"/>
            </a:p>
            <a:p>
              <a:pPr algn="ctr"/>
              <a:r>
                <a:rPr lang="en-US" sz="1633" b="1" dirty="0"/>
                <a:t>Driver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3F68A1E-E428-BC98-0730-7F283C91C991}"/>
                </a:ext>
              </a:extLst>
            </p:cNvPr>
            <p:cNvSpPr/>
            <p:nvPr/>
          </p:nvSpPr>
          <p:spPr bwMode="auto">
            <a:xfrm>
              <a:off x="2831823" y="4457943"/>
              <a:ext cx="1103156" cy="599204"/>
            </a:xfrm>
            <a:prstGeom prst="rect">
              <a:avLst/>
            </a:prstGeom>
            <a:solidFill>
              <a:srgbClr val="FF99FF"/>
            </a:solidFill>
            <a:ln w="28575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/>
              <a:r>
                <a:rPr lang="en-US" sz="1633" b="1" dirty="0">
                  <a:solidFill>
                    <a:schemeClr val="bg1">
                      <a:lumMod val="50000"/>
                    </a:schemeClr>
                  </a:solidFill>
                </a:rPr>
                <a:t>Device</a:t>
              </a:r>
              <a:endParaRPr lang="en-GB" sz="1633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Up-Down Arrow 30">
              <a:extLst>
                <a:ext uri="{FF2B5EF4-FFF2-40B4-BE49-F238E27FC236}">
                  <a16:creationId xmlns:a16="http://schemas.microsoft.com/office/drawing/2014/main" id="{52A8A077-3E8B-21C6-D9ED-6253DDA8C0C0}"/>
                </a:ext>
              </a:extLst>
            </p:cNvPr>
            <p:cNvSpPr/>
            <p:nvPr/>
          </p:nvSpPr>
          <p:spPr bwMode="auto">
            <a:xfrm>
              <a:off x="3299316" y="3067099"/>
              <a:ext cx="151773" cy="332089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  <p:sp>
          <p:nvSpPr>
            <p:cNvPr id="12" name="Up-Down Arrow 30">
              <a:extLst>
                <a:ext uri="{FF2B5EF4-FFF2-40B4-BE49-F238E27FC236}">
                  <a16:creationId xmlns:a16="http://schemas.microsoft.com/office/drawing/2014/main" id="{98E19498-5170-926C-F444-C9FB3268EFA1}"/>
                </a:ext>
              </a:extLst>
            </p:cNvPr>
            <p:cNvSpPr/>
            <p:nvPr/>
          </p:nvSpPr>
          <p:spPr bwMode="auto">
            <a:xfrm>
              <a:off x="3293584" y="3985527"/>
              <a:ext cx="157505" cy="472415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  <p:sp>
          <p:nvSpPr>
            <p:cNvPr id="13" name="Up-Down Arrow 30">
              <a:extLst>
                <a:ext uri="{FF2B5EF4-FFF2-40B4-BE49-F238E27FC236}">
                  <a16:creationId xmlns:a16="http://schemas.microsoft.com/office/drawing/2014/main" id="{2DB53DC9-1ABE-A031-E7DA-32AC5CEA7DBE}"/>
                </a:ext>
              </a:extLst>
            </p:cNvPr>
            <p:cNvSpPr/>
            <p:nvPr/>
          </p:nvSpPr>
          <p:spPr bwMode="auto">
            <a:xfrm rot="5400000">
              <a:off x="2609173" y="2618008"/>
              <a:ext cx="151773" cy="332089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4782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2012" y="1476863"/>
            <a:ext cx="6087336" cy="5017327"/>
          </a:xfrm>
        </p:spPr>
        <p:txBody>
          <a:bodyPr/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Protocol files don’t need to be compiled, but the IOC needs to know where to find them during startup.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Place protocol files in: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epics/&lt;Device&gt;App/Db/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*.proto extension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They are automatically included in the build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Or: define STREAM_PROTOCOL_PATH to where the files are kept.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671" y="318274"/>
            <a:ext cx="8001840" cy="914400"/>
          </a:xfrm>
        </p:spPr>
        <p:txBody>
          <a:bodyPr/>
          <a:lstStyle/>
          <a:p>
            <a:r>
              <a:rPr lang="en-US" sz="3200" dirty="0">
                <a:latin typeface="Oswald" pitchFamily="2" charset="77"/>
              </a:rPr>
              <a:t>Including Protocol Files in the Project Build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4597887-6BD6-326C-5BEC-B12D33241805}"/>
              </a:ext>
            </a:extLst>
          </p:cNvPr>
          <p:cNvGrpSpPr/>
          <p:nvPr/>
        </p:nvGrpSpPr>
        <p:grpSpPr>
          <a:xfrm>
            <a:off x="1252954" y="2133272"/>
            <a:ext cx="3063057" cy="2923875"/>
            <a:chOff x="1010178" y="2133272"/>
            <a:chExt cx="3063057" cy="292387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70F1B8-A733-63FF-7797-701E22CA5F88}"/>
                </a:ext>
              </a:extLst>
            </p:cNvPr>
            <p:cNvSpPr txBox="1"/>
            <p:nvPr/>
          </p:nvSpPr>
          <p:spPr>
            <a:xfrm>
              <a:off x="1010178" y="2133272"/>
              <a:ext cx="3063057" cy="21026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33" b="1" dirty="0"/>
                <a:t>IOC</a:t>
              </a:r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  <a:p>
              <a:endParaRPr lang="en-US" sz="1633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97CD356-CCDD-4AD4-001F-805C9ADDF1D9}"/>
                </a:ext>
              </a:extLst>
            </p:cNvPr>
            <p:cNvSpPr txBox="1"/>
            <p:nvPr/>
          </p:nvSpPr>
          <p:spPr>
            <a:xfrm>
              <a:off x="1148432" y="2490882"/>
              <a:ext cx="1404003" cy="59490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/>
                <a:t>Protocol file</a:t>
              </a:r>
              <a:br>
                <a:rPr lang="en-US" sz="1633" b="1" dirty="0"/>
              </a:br>
              <a:r>
                <a:rPr lang="en-US" sz="1633" b="1" dirty="0"/>
                <a:t>(*.proto)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8D1389-F2BC-3073-442E-808373E7A58B}"/>
                </a:ext>
              </a:extLst>
            </p:cNvPr>
            <p:cNvSpPr txBox="1"/>
            <p:nvPr/>
          </p:nvSpPr>
          <p:spPr>
            <a:xfrm>
              <a:off x="2823315" y="2490882"/>
              <a:ext cx="1111665" cy="59490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/>
                <a:t>EPICS record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84177C-C2C5-0C47-F62A-0C42C317884D}"/>
                </a:ext>
              </a:extLst>
            </p:cNvPr>
            <p:cNvSpPr txBox="1"/>
            <p:nvPr/>
          </p:nvSpPr>
          <p:spPr>
            <a:xfrm>
              <a:off x="2816700" y="3399188"/>
              <a:ext cx="1124893" cy="59490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33" b="1" dirty="0" err="1"/>
                <a:t>AsynPort</a:t>
              </a:r>
              <a:endParaRPr lang="en-US" sz="1633" b="1" dirty="0"/>
            </a:p>
            <a:p>
              <a:pPr algn="ctr"/>
              <a:r>
                <a:rPr lang="en-US" sz="1633" b="1" dirty="0"/>
                <a:t>Driver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1B55447-E9C9-188A-C854-4F20CD9CB99F}"/>
                </a:ext>
              </a:extLst>
            </p:cNvPr>
            <p:cNvSpPr/>
            <p:nvPr/>
          </p:nvSpPr>
          <p:spPr bwMode="auto">
            <a:xfrm>
              <a:off x="2831823" y="4457943"/>
              <a:ext cx="1103156" cy="599204"/>
            </a:xfrm>
            <a:prstGeom prst="rect">
              <a:avLst/>
            </a:prstGeom>
            <a:solidFill>
              <a:srgbClr val="FF99FF"/>
            </a:solidFill>
            <a:ln w="28575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/>
              <a:r>
                <a:rPr lang="en-US" sz="1633" b="1" dirty="0">
                  <a:solidFill>
                    <a:schemeClr val="bg1">
                      <a:lumMod val="50000"/>
                    </a:schemeClr>
                  </a:solidFill>
                </a:rPr>
                <a:t>Device</a:t>
              </a:r>
              <a:endParaRPr lang="en-GB" sz="1633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Up-Down Arrow 30">
              <a:extLst>
                <a:ext uri="{FF2B5EF4-FFF2-40B4-BE49-F238E27FC236}">
                  <a16:creationId xmlns:a16="http://schemas.microsoft.com/office/drawing/2014/main" id="{DCF08864-514C-A8B4-B0B0-103FFE850EF9}"/>
                </a:ext>
              </a:extLst>
            </p:cNvPr>
            <p:cNvSpPr/>
            <p:nvPr/>
          </p:nvSpPr>
          <p:spPr bwMode="auto">
            <a:xfrm>
              <a:off x="3299316" y="3067099"/>
              <a:ext cx="151773" cy="332089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  <p:sp>
          <p:nvSpPr>
            <p:cNvPr id="20" name="Up-Down Arrow 30">
              <a:extLst>
                <a:ext uri="{FF2B5EF4-FFF2-40B4-BE49-F238E27FC236}">
                  <a16:creationId xmlns:a16="http://schemas.microsoft.com/office/drawing/2014/main" id="{20B55286-83B9-24CC-42D5-54D8CD90BA27}"/>
                </a:ext>
              </a:extLst>
            </p:cNvPr>
            <p:cNvSpPr/>
            <p:nvPr/>
          </p:nvSpPr>
          <p:spPr bwMode="auto">
            <a:xfrm>
              <a:off x="3293584" y="3985527"/>
              <a:ext cx="157505" cy="472415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  <p:sp>
          <p:nvSpPr>
            <p:cNvPr id="21" name="Up-Down Arrow 30">
              <a:extLst>
                <a:ext uri="{FF2B5EF4-FFF2-40B4-BE49-F238E27FC236}">
                  <a16:creationId xmlns:a16="http://schemas.microsoft.com/office/drawing/2014/main" id="{A4C5E807-63A1-108B-126A-FCF82CD64217}"/>
                </a:ext>
              </a:extLst>
            </p:cNvPr>
            <p:cNvSpPr/>
            <p:nvPr/>
          </p:nvSpPr>
          <p:spPr bwMode="auto">
            <a:xfrm rot="5400000">
              <a:off x="2609173" y="2618008"/>
              <a:ext cx="151773" cy="332089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953" tIns="41476" rIns="82953" bIns="41476" numCol="1" rtlCol="0" anchor="t" anchorCtr="0" compatLnSpc="1">
              <a:prstTxWarp prst="textNoShape">
                <a:avLst/>
              </a:prstTxWarp>
            </a:bodyPr>
            <a:lstStyle/>
            <a:p>
              <a:pPr defTabSz="829544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177">
                <a:latin typeface="Century Gothic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6772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246" y="903135"/>
            <a:ext cx="9901465" cy="5017327"/>
          </a:xfrm>
        </p:spPr>
        <p:txBody>
          <a:bodyPr/>
          <a:lstStyle/>
          <a:p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Plain text ASCII files containing a set of protocols</a:t>
            </a:r>
          </a:p>
          <a:p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Each protocol has a name and a sequence of commands</a:t>
            </a:r>
          </a:p>
          <a:p>
            <a:pPr lvl="1"/>
            <a:r>
              <a:rPr lang="en-US" sz="1814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</a:t>
            </a:r>
            <a:r>
              <a:rPr lang="en-US" sz="1814" i="1" dirty="0">
                <a:solidFill>
                  <a:srgbClr val="FF66CC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string</a:t>
            </a:r>
            <a:r>
              <a:rPr lang="en-US" sz="1814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; 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- reads message that matches “string”</a:t>
            </a:r>
          </a:p>
          <a:p>
            <a:pPr lvl="1"/>
            <a:r>
              <a:rPr lang="en-US" sz="1814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out </a:t>
            </a:r>
            <a:r>
              <a:rPr lang="en-US" sz="1814" i="1" dirty="0">
                <a:solidFill>
                  <a:srgbClr val="FF66CC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string</a:t>
            </a:r>
            <a:r>
              <a:rPr lang="en-US" sz="1814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 - sends message that matches “string”</a:t>
            </a:r>
          </a:p>
          <a:p>
            <a:pPr lvl="1"/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others: </a:t>
            </a:r>
            <a:r>
              <a:rPr lang="en-US" sz="1814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wait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event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exec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disconnect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connect</a:t>
            </a:r>
            <a:endParaRPr lang="en-US" sz="1814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“Strings” are matched using format converters</a:t>
            </a:r>
          </a:p>
          <a:p>
            <a:pPr lvl="1"/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doubles or floats: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%f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%e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%E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%g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%G</a:t>
            </a:r>
            <a:endParaRPr lang="en-US" sz="1814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shorts, </a:t>
            </a:r>
            <a:r>
              <a:rPr lang="en-US" sz="1814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ints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 or longs: </a:t>
            </a:r>
            <a:r>
              <a:rPr lang="pl-PL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%d</a:t>
            </a:r>
            <a:r>
              <a:rPr lang="pl-PL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pl-PL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%i</a:t>
            </a:r>
            <a:r>
              <a:rPr lang="pl-PL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pl-PL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%u</a:t>
            </a:r>
            <a:r>
              <a:rPr lang="pl-PL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pl-PL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%o</a:t>
            </a:r>
            <a:r>
              <a:rPr lang="pl-PL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pl-PL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%x</a:t>
            </a:r>
            <a:r>
              <a:rPr lang="pl-PL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pl-PL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%X</a:t>
            </a:r>
            <a:endParaRPr lang="en-US" sz="1814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strings or chars: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%s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%c</a:t>
            </a:r>
            <a:endParaRPr lang="en-US" sz="1814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enumerations: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%{string0|string1|...}</a:t>
            </a:r>
            <a:endParaRPr lang="en-US" sz="1814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others: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%[charset]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%b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</a:t>
            </a:r>
            <a:r>
              <a:rPr lang="en-US" sz="1814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Bzo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%r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%R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%D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%&lt;checksum&gt;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%/regex/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%#/regex/</a:t>
            </a:r>
            <a:r>
              <a:rPr lang="en-US" sz="1814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subst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%m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%T(</a:t>
            </a:r>
            <a:r>
              <a:rPr lang="en-US" sz="1814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timeformat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  <a:endParaRPr lang="en-US" sz="1814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177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Optional width and flags can modify behavior of format converters</a:t>
            </a:r>
          </a:p>
          <a:p>
            <a:pPr lvl="1"/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Width specifies number of characters string should have</a:t>
            </a:r>
          </a:p>
          <a:p>
            <a:pPr lvl="1"/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Flags: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(skip),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#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(format),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+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(positive </a:t>
            </a:r>
            <a:r>
              <a:rPr lang="en-US" sz="1814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int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 prefix),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(pad),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-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(left justify),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?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(allow fail),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(compare), </a:t>
            </a:r>
            <a:r>
              <a:rPr lang="en-US" sz="1814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!</a:t>
            </a:r>
            <a:r>
              <a:rPr lang="en-US" sz="1814" dirty="0">
                <a:latin typeface="Source Sans Pro" panose="020B0503030403020204" pitchFamily="34" charset="0"/>
                <a:ea typeface="Source Sans Pro" panose="020B0503030403020204" pitchFamily="34" charset="0"/>
              </a:rPr>
              <a:t>(impose width)</a:t>
            </a:r>
          </a:p>
          <a:p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671" y="318274"/>
            <a:ext cx="8001840" cy="553018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Protocol Files</a:t>
            </a:r>
          </a:p>
        </p:txBody>
      </p:sp>
    </p:spTree>
    <p:extLst>
      <p:ext uri="{BB962C8B-B14F-4D97-AF65-F5344CB8AC3E}">
        <p14:creationId xmlns:p14="http://schemas.microsoft.com/office/powerpoint/2010/main" val="4204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0902" y="940419"/>
            <a:ext cx="8771961" cy="5017327"/>
          </a:xfrm>
        </p:spPr>
        <p:txBody>
          <a:bodyPr/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Protocol nesting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– one protocol may call another</a:t>
            </a: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Redirection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– protocols may read/write from/to other records and/or fields </a:t>
            </a:r>
            <a:r>
              <a:rPr lang="en-US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(often not a good practice, but possible)</a:t>
            </a: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System variables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– preset variables (can be local or global): </a:t>
            </a:r>
            <a:r>
              <a:rPr lang="en-US" sz="2400" dirty="0" err="1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LockTimeout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 err="1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WriteTimeout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 err="1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ReplyTimeout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 err="1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ReadTimeout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 err="1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PollPeriod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Terminator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 err="1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OutTerminator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 err="1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InTerminator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 err="1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MaxInput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Separator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 err="1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ExtraInput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User variables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– free to customize, called with '</a:t>
            </a:r>
            <a:r>
              <a:rPr lang="en-US" sz="240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$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' prefix</a:t>
            </a: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Arguments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– arguments can be passed from the record to the protocol it calls (up to 9, called with </a:t>
            </a:r>
            <a:r>
              <a:rPr lang="en-US" sz="240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\$1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..</a:t>
            </a:r>
            <a:r>
              <a:rPr lang="en-US" sz="240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\$9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</a:p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Exception handlers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– clauses that are called only when certain conditions are met: </a:t>
            </a:r>
            <a:r>
              <a:rPr lang="en-US" sz="240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@mismatch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@</a:t>
            </a:r>
            <a:r>
              <a:rPr lang="en-US" sz="2400" dirty="0" err="1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writetimeout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@</a:t>
            </a:r>
            <a:r>
              <a:rPr lang="en-US" sz="2400" dirty="0" err="1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replytimeout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@</a:t>
            </a:r>
            <a:r>
              <a:rPr lang="en-US" sz="2400" dirty="0" err="1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readtimeout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US" sz="240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@</a:t>
            </a:r>
            <a:r>
              <a:rPr lang="en-US" sz="2400" dirty="0" err="1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init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671" y="318274"/>
            <a:ext cx="8001840" cy="914400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2866651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127" y="1059721"/>
            <a:ext cx="5726242" cy="5461053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Term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inator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 LF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         # sets line terminators for both inputs and outputs to "\r\n"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FF66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"FREQ"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 # User variable: sets f to "FREQ" (including the quotes)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"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";              # User variable: sets f1 to "FREQ %f"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getFrequency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{              #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could call this using INP="@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protoFile.proto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getFrequency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DEV1"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sz="1200" dirty="0">
                <a:solidFill>
                  <a:srgbClr val="FF66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";             # same as: out "FREQ?";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$f1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 # same as: in "FREQ %f";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setFrequency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{              #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ao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could call this using OUT="@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protoFile.proto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setFrequency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DEV1"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$f1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# same as: out "FREQ %f";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getFrequency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 } # Exception handler calling another protocol: initial sync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getSwitch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{                 # bi could call this using INP="@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protoFile.proto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getSwitch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DEV1"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sz="1200" dirty="0">
                <a:solidFill>
                  <a:srgbClr val="FF66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SW?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";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sz="1200" dirty="0">
                <a:solidFill>
                  <a:srgbClr val="FF66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%{OFF|ON}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"; # if input is "SW OFF", VAL=0, if input is "SW ON", VAL=1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671" y="318274"/>
            <a:ext cx="8001840" cy="622145"/>
          </a:xfrm>
        </p:spPr>
        <p:txBody>
          <a:bodyPr/>
          <a:lstStyle/>
          <a:p>
            <a:pPr algn="ctr"/>
            <a:r>
              <a:rPr lang="en-US" sz="3200">
                <a:latin typeface="Oswald" pitchFamily="2" charset="77"/>
              </a:rPr>
              <a:t>Example </a:t>
            </a:r>
            <a:r>
              <a:rPr lang="en-US" sz="3200" dirty="0">
                <a:latin typeface="Oswald" pitchFamily="2" charset="77"/>
              </a:rPr>
              <a:t>Protocol File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822B6AE-E1BA-AB74-69B7-AAEC424B0533}"/>
              </a:ext>
            </a:extLst>
          </p:cNvPr>
          <p:cNvSpPr txBox="1">
            <a:spLocks/>
          </p:cNvSpPr>
          <p:nvPr/>
        </p:nvSpPr>
        <p:spPr>
          <a:xfrm>
            <a:off x="6298369" y="1190052"/>
            <a:ext cx="5726242" cy="54610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setSwitch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{                 #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bo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could call this using OUT="@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protoFile.proto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setSwitch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DEV1"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sz="1200" dirty="0">
                <a:solidFill>
                  <a:srgbClr val="FF66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%{OFF|ON}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";     # if VAL=0, send "SW OFF“, if VAL=1, send "SW ON"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getSwitch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 }    # Exception handler calling another protocol: initial sync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move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\$1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FF66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%d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"; } #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ao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could call this using OUT="@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protoFile.proto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move(X) DEV1"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debug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{                     # Generic command for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stringout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record: any string written to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ExtraInput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Ignore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;    # … record’s VAL field is sent to device, any reply from device will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"; 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%39c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     # … be written to record’s VAL field cropped at 39 characters.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446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9332" y="940419"/>
            <a:ext cx="9483532" cy="5017327"/>
          </a:xfrm>
        </p:spPr>
        <p:txBody>
          <a:bodyPr/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case: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Two records that use similar protocols for the same device are triggered to process at (almost) the same time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Record A protocol: { </a:t>
            </a:r>
            <a:r>
              <a:rPr lang="en-US" sz="240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“</a:t>
            </a:r>
            <a:r>
              <a:rPr lang="en-US" sz="2400" dirty="0">
                <a:solidFill>
                  <a:srgbClr val="FF66CC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 PS1?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”; </a:t>
            </a:r>
            <a:r>
              <a:rPr lang="en-US" sz="240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“</a:t>
            </a:r>
            <a:r>
              <a:rPr lang="en-US" sz="24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%f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”; }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Record B protocol: { </a:t>
            </a:r>
            <a:r>
              <a:rPr lang="en-US" sz="240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“</a:t>
            </a:r>
            <a:r>
              <a:rPr lang="en-US" sz="2400" dirty="0">
                <a:solidFill>
                  <a:srgbClr val="FF66CC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 PS2?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”; </a:t>
            </a:r>
            <a:r>
              <a:rPr lang="en-US" sz="240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“</a:t>
            </a:r>
            <a:r>
              <a:rPr lang="en-US" sz="24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%f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”; }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both output messages are sent to the same device at the same time, how will the responses not get mixed up?</a:t>
            </a:r>
          </a:p>
          <a:p>
            <a:pPr lvl="1"/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Asyn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Driver sends the first output message it receives (either A or B).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Second output message gets buffered in a queue and doesn’t get sent (yet).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Only once the first protocol is completed (a proper reply is received within the timeout), the second output message gets sent automatically.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ASYN takes care of everything!</a:t>
            </a:r>
          </a:p>
          <a:p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671" y="318274"/>
            <a:ext cx="8001840" cy="914400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Messages Don’t Get Mixed Up!</a:t>
            </a:r>
          </a:p>
        </p:txBody>
      </p:sp>
    </p:spTree>
    <p:extLst>
      <p:ext uri="{BB962C8B-B14F-4D97-AF65-F5344CB8AC3E}">
        <p14:creationId xmlns:p14="http://schemas.microsoft.com/office/powerpoint/2010/main" val="134017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9272" y="940419"/>
            <a:ext cx="9393591" cy="5100617"/>
          </a:xfrm>
        </p:spPr>
        <p:txBody>
          <a:bodyPr/>
          <a:lstStyle/>
          <a:p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StreamDevice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offers universal support to integrate all message-based devices</a:t>
            </a: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ASYN layer takes care of the low-level communications handling and provides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out-of-the-box support for most low-level drivers: serial, TCP/IP, VXI-11, IEEE-488, …</a:t>
            </a: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Only configuration, no coding</a:t>
            </a: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Protocols are reloadable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 Faster development</a:t>
            </a: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Support for common record types</a:t>
            </a: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Extendable:</a:t>
            </a:r>
          </a:p>
          <a:p>
            <a:pPr lvl="1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Write your own format converters</a:t>
            </a:r>
          </a:p>
          <a:p>
            <a:pPr lvl="1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Write support for other record types</a:t>
            </a:r>
          </a:p>
          <a:p>
            <a:pPr lvl="1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Use </a:t>
            </a:r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StreamDevice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 with other non-</a:t>
            </a:r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Asyn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 low-level drivers</a:t>
            </a: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However:</a:t>
            </a:r>
          </a:p>
          <a:p>
            <a:pPr lvl="1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Not a programming language (no </a:t>
            </a:r>
            <a:r>
              <a:rPr lang="en-US" sz="1600" i="1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for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, </a:t>
            </a:r>
            <a:r>
              <a:rPr lang="en-US" sz="1600" i="1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if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, etc.)</a:t>
            </a:r>
          </a:p>
          <a:p>
            <a:pPr lvl="1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Everything is a string (no other datatypes, just format converters)</a:t>
            </a:r>
          </a:p>
          <a:p>
            <a:pPr lvl="1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Line terminators can cause headaches (use </a:t>
            </a:r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Asyn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 Trace Mask for debugging!)</a:t>
            </a:r>
          </a:p>
          <a:p>
            <a:pPr lvl="1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Important to configure SCAN fields properly in accordance to record behavior</a:t>
            </a:r>
          </a:p>
          <a:p>
            <a:pPr lvl="1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anose="05000000000000000000" pitchFamily="2" charset="2"/>
              </a:rPr>
              <a:t>Although quick to setup, can take time to make fail-safe (80/20 rule!)</a:t>
            </a:r>
          </a:p>
          <a:p>
            <a:pPr lvl="1"/>
            <a:endParaRPr lang="en-US" sz="1633" dirty="0"/>
          </a:p>
          <a:p>
            <a:endParaRPr lang="en-US" sz="1814" dirty="0"/>
          </a:p>
          <a:p>
            <a:pPr lvl="1"/>
            <a:endParaRPr lang="en-US" sz="1633" dirty="0"/>
          </a:p>
          <a:p>
            <a:pPr marL="0" indent="0">
              <a:buNone/>
            </a:pPr>
            <a:endParaRPr lang="en-US" sz="1814" dirty="0"/>
          </a:p>
          <a:p>
            <a:endParaRPr lang="en-US" sz="1814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671" y="318274"/>
            <a:ext cx="8001840" cy="622145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64205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generated with high confidence">
            <a:extLst>
              <a:ext uri="{FF2B5EF4-FFF2-40B4-BE49-F238E27FC236}">
                <a16:creationId xmlns:a16="http://schemas.microsoft.com/office/drawing/2014/main" id="{081E4B5E-9F23-434D-8EF6-723C1D16D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492148" y="435454"/>
            <a:ext cx="6746511" cy="907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3467" dirty="0">
                <a:solidFill>
                  <a:srgbClr val="C7DE27"/>
                </a:solidFill>
                <a:latin typeface="Oswald Regular"/>
                <a:ea typeface="Milo-Medium"/>
                <a:cs typeface="Oswald Regular"/>
              </a:rPr>
              <a:t>Thank You for Your Attention!</a:t>
            </a:r>
          </a:p>
          <a:p>
            <a:pPr>
              <a:lnSpc>
                <a:spcPct val="110000"/>
              </a:lnSpc>
            </a:pPr>
            <a:r>
              <a:rPr lang="de-DE" sz="2000" dirty="0">
                <a:solidFill>
                  <a:srgbClr val="C0D0CF"/>
                </a:solidFill>
                <a:latin typeface="Source Sans Pro"/>
                <a:ea typeface="Milo-Medium"/>
                <a:cs typeface="Source Sans Pro"/>
              </a:rPr>
              <a:t>	</a:t>
            </a:r>
          </a:p>
        </p:txBody>
      </p:sp>
      <p:pic>
        <p:nvPicPr>
          <p:cNvPr id="36" name="Grafik 8">
            <a:extLst>
              <a:ext uri="{FF2B5EF4-FFF2-40B4-BE49-F238E27FC236}">
                <a16:creationId xmlns:a16="http://schemas.microsoft.com/office/drawing/2014/main" id="{BBFCB516-DB00-4844-B0CC-5A420930EB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48" y="6139281"/>
            <a:ext cx="648829" cy="34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9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ICS presentation" id="{7AE69D57-5A9A-EC4B-B48D-17D8E9C4F91E}" vid="{891AE9FA-AA9F-8B45-A343-9F71569D2A0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1272</TotalTime>
  <Words>1563</Words>
  <Application>Microsoft Macintosh PowerPoint</Application>
  <PresentationFormat>Widescreen</PresentationFormat>
  <Paragraphs>165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Oswald Regular</vt:lpstr>
      <vt:lpstr>Source Sans Pro</vt:lpstr>
      <vt:lpstr>Century Gothic</vt:lpstr>
      <vt:lpstr>Calibri</vt:lpstr>
      <vt:lpstr>Oswald</vt:lpstr>
      <vt:lpstr>Consolas</vt:lpstr>
      <vt:lpstr>Arial</vt:lpstr>
      <vt:lpstr>Office</vt:lpstr>
      <vt:lpstr>PowerPoint Presentation</vt:lpstr>
      <vt:lpstr>What is StreamDevice?</vt:lpstr>
      <vt:lpstr>Architecture</vt:lpstr>
      <vt:lpstr>ASYN Port Driver Configuration</vt:lpstr>
      <vt:lpstr>Record Configuration</vt:lpstr>
      <vt:lpstr>Including Protocol Files in the Project Build</vt:lpstr>
      <vt:lpstr>Protocol Files</vt:lpstr>
      <vt:lpstr>Features</vt:lpstr>
      <vt:lpstr>Example Protocol File </vt:lpstr>
      <vt:lpstr>Messages Don’t Get Mixed Up!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 Korhonen</dc:creator>
  <cp:lastModifiedBy>Timo Korhonen</cp:lastModifiedBy>
  <cp:revision>7</cp:revision>
  <dcterms:created xsi:type="dcterms:W3CDTF">2025-10-11T23:24:11Z</dcterms:created>
  <dcterms:modified xsi:type="dcterms:W3CDTF">2025-10-15T05:24:11Z</dcterms:modified>
</cp:coreProperties>
</file>